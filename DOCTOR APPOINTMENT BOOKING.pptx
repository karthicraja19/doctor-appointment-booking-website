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libri" pitchFamily="34" charset="0"/>
      <p:regular r:id="rId14"/>
      <p:bold r:id="rId15"/>
      <p:italic r:id="rId16"/>
      <p:boldItalic r:id="rId17"/>
    </p:embeddedFont>
    <p:embeddedFont>
      <p:font typeface="Abril Fatface" charset="0"/>
      <p:regular r:id="rId18"/>
    </p:embeddedFont>
    <p:embeddedFont>
      <p:font typeface="Canva Sans Bold" charset="0"/>
      <p:regular r:id="rId19"/>
    </p:embeddedFont>
    <p:embeddedFont>
      <p:font typeface="League Spartan"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napVertSplitter="1" vertBarState="minimized" horzBarState="maximized">
    <p:restoredLeft sz="15620" autoAdjust="0"/>
    <p:restoredTop sz="94622" autoAdjust="0"/>
  </p:normalViewPr>
  <p:slideViewPr>
    <p:cSldViewPr>
      <p:cViewPr>
        <p:scale>
          <a:sx n="49" d="100"/>
          <a:sy n="49" d="100"/>
        </p:scale>
        <p:origin x="-1212" y="-14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68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5224993" y="7718640"/>
            <a:ext cx="3414568" cy="3079320"/>
          </a:xfrm>
          <a:custGeom>
            <a:avLst/>
            <a:gdLst/>
            <a:ahLst/>
            <a:cxnLst/>
            <a:rect l="l" t="t" r="r" b="b"/>
            <a:pathLst>
              <a:path w="3414568" h="3079320">
                <a:moveTo>
                  <a:pt x="3414568" y="0"/>
                </a:moveTo>
                <a:lnTo>
                  <a:pt x="0" y="0"/>
                </a:lnTo>
                <a:lnTo>
                  <a:pt x="0" y="3079320"/>
                </a:lnTo>
                <a:lnTo>
                  <a:pt x="3414568" y="3079320"/>
                </a:lnTo>
                <a:lnTo>
                  <a:pt x="3414568"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flipV="1">
            <a:off x="-678584" y="-510960"/>
            <a:ext cx="3414568" cy="3079320"/>
          </a:xfrm>
          <a:custGeom>
            <a:avLst/>
            <a:gdLst/>
            <a:ahLst/>
            <a:cxnLst/>
            <a:rect l="l" t="t" r="r" b="b"/>
            <a:pathLst>
              <a:path w="3414568" h="3079320">
                <a:moveTo>
                  <a:pt x="0" y="3079320"/>
                </a:moveTo>
                <a:lnTo>
                  <a:pt x="3414568" y="3079320"/>
                </a:lnTo>
                <a:lnTo>
                  <a:pt x="3414568" y="0"/>
                </a:lnTo>
                <a:lnTo>
                  <a:pt x="0" y="0"/>
                </a:lnTo>
                <a:lnTo>
                  <a:pt x="0" y="307932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a:off x="16307791" y="1028700"/>
            <a:ext cx="951509" cy="237877"/>
          </a:xfrm>
          <a:custGeom>
            <a:avLst/>
            <a:gdLst/>
            <a:ahLst/>
            <a:cxnLst/>
            <a:rect l="l" t="t" r="r" b="b"/>
            <a:pathLst>
              <a:path w="951509" h="237877">
                <a:moveTo>
                  <a:pt x="0" y="0"/>
                </a:moveTo>
                <a:lnTo>
                  <a:pt x="951509" y="0"/>
                </a:lnTo>
                <a:lnTo>
                  <a:pt x="951509" y="237877"/>
                </a:lnTo>
                <a:lnTo>
                  <a:pt x="0" y="23787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Freeform 5"/>
          <p:cNvSpPr/>
          <p:nvPr/>
        </p:nvSpPr>
        <p:spPr>
          <a:xfrm>
            <a:off x="1028700" y="9020423"/>
            <a:ext cx="951509" cy="237877"/>
          </a:xfrm>
          <a:custGeom>
            <a:avLst/>
            <a:gdLst/>
            <a:ahLst/>
            <a:cxnLst/>
            <a:rect l="l" t="t" r="r" b="b"/>
            <a:pathLst>
              <a:path w="951509" h="237877">
                <a:moveTo>
                  <a:pt x="0" y="0"/>
                </a:moveTo>
                <a:lnTo>
                  <a:pt x="951509" y="0"/>
                </a:lnTo>
                <a:lnTo>
                  <a:pt x="951509" y="237877"/>
                </a:lnTo>
                <a:lnTo>
                  <a:pt x="0" y="23787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6" name="TextBox 6"/>
          <p:cNvSpPr txBox="1"/>
          <p:nvPr/>
        </p:nvSpPr>
        <p:spPr>
          <a:xfrm>
            <a:off x="1220786" y="1898180"/>
            <a:ext cx="15903577" cy="651130"/>
          </a:xfrm>
          <a:prstGeom prst="rect">
            <a:avLst/>
          </a:prstGeom>
        </p:spPr>
        <p:txBody>
          <a:bodyPr lIns="0" tIns="0" rIns="0" bIns="0" rtlCol="0" anchor="t">
            <a:spAutoFit/>
          </a:bodyPr>
          <a:lstStyle/>
          <a:p>
            <a:pPr algn="ctr">
              <a:lnSpc>
                <a:spcPts val="4743"/>
              </a:lnSpc>
            </a:pPr>
            <a:r>
              <a:rPr lang="en-US" sz="5100">
                <a:solidFill>
                  <a:srgbClr val="104772"/>
                </a:solidFill>
                <a:latin typeface="Abril Fatface"/>
                <a:ea typeface="Abril Fatface"/>
                <a:cs typeface="Abril Fatface"/>
                <a:sym typeface="Abril Fatface"/>
              </a:rPr>
              <a:t>DOCTOR APPOINTMENT BOOKING AND</a:t>
            </a:r>
          </a:p>
        </p:txBody>
      </p:sp>
      <p:sp>
        <p:nvSpPr>
          <p:cNvPr id="7" name="TextBox 7"/>
          <p:cNvSpPr txBox="1"/>
          <p:nvPr/>
        </p:nvSpPr>
        <p:spPr>
          <a:xfrm>
            <a:off x="3456482" y="2769851"/>
            <a:ext cx="11375037" cy="651130"/>
          </a:xfrm>
          <a:prstGeom prst="rect">
            <a:avLst/>
          </a:prstGeom>
        </p:spPr>
        <p:txBody>
          <a:bodyPr lIns="0" tIns="0" rIns="0" bIns="0" rtlCol="0" anchor="t">
            <a:spAutoFit/>
          </a:bodyPr>
          <a:lstStyle/>
          <a:p>
            <a:pPr algn="ctr">
              <a:lnSpc>
                <a:spcPts val="4743"/>
              </a:lnSpc>
            </a:pPr>
            <a:r>
              <a:rPr lang="en-US" sz="5100">
                <a:solidFill>
                  <a:srgbClr val="104772"/>
                </a:solidFill>
                <a:latin typeface="Abril Fatface"/>
                <a:ea typeface="Abril Fatface"/>
                <a:cs typeface="Abril Fatface"/>
                <a:sym typeface="Abril Fatface"/>
              </a:rPr>
              <a:t>ONLINE CONSULTATION WEBSITE</a:t>
            </a:r>
          </a:p>
        </p:txBody>
      </p:sp>
      <p:sp>
        <p:nvSpPr>
          <p:cNvPr id="8" name="TextBox 8"/>
          <p:cNvSpPr txBox="1"/>
          <p:nvPr/>
        </p:nvSpPr>
        <p:spPr>
          <a:xfrm>
            <a:off x="4342621" y="5813773"/>
            <a:ext cx="9831359" cy="563881"/>
          </a:xfrm>
          <a:prstGeom prst="rect">
            <a:avLst/>
          </a:prstGeom>
        </p:spPr>
        <p:txBody>
          <a:bodyPr lIns="0" tIns="0" rIns="0" bIns="0" rtlCol="0" anchor="t">
            <a:spAutoFit/>
          </a:bodyPr>
          <a:lstStyle/>
          <a:p>
            <a:pPr algn="ctr">
              <a:lnSpc>
                <a:spcPts val="4185"/>
              </a:lnSpc>
            </a:pPr>
            <a:r>
              <a:rPr lang="en-US" sz="4500">
                <a:solidFill>
                  <a:srgbClr val="104772"/>
                </a:solidFill>
                <a:latin typeface="League Spartan"/>
                <a:ea typeface="League Spartan"/>
                <a:cs typeface="League Spartan"/>
                <a:sym typeface="League Spartan"/>
              </a:rPr>
              <a:t>REGISTER NO: 2213101033209</a:t>
            </a:r>
          </a:p>
        </p:txBody>
      </p:sp>
      <p:sp>
        <p:nvSpPr>
          <p:cNvPr id="9" name="TextBox 9"/>
          <p:cNvSpPr txBox="1"/>
          <p:nvPr/>
        </p:nvSpPr>
        <p:spPr>
          <a:xfrm>
            <a:off x="4632318" y="4918709"/>
            <a:ext cx="7740367" cy="563881"/>
          </a:xfrm>
          <a:prstGeom prst="rect">
            <a:avLst/>
          </a:prstGeom>
        </p:spPr>
        <p:txBody>
          <a:bodyPr lIns="0" tIns="0" rIns="0" bIns="0" rtlCol="0" anchor="t">
            <a:spAutoFit/>
          </a:bodyPr>
          <a:lstStyle/>
          <a:p>
            <a:pPr algn="ctr">
              <a:lnSpc>
                <a:spcPts val="4185"/>
              </a:lnSpc>
            </a:pPr>
            <a:r>
              <a:rPr lang="en-US" sz="4500">
                <a:solidFill>
                  <a:srgbClr val="104772"/>
                </a:solidFill>
                <a:latin typeface="League Spartan"/>
                <a:ea typeface="League Spartan"/>
                <a:cs typeface="League Spartan"/>
                <a:sym typeface="League Spartan"/>
              </a:rPr>
              <a:t>NAME: G.E.KARTHICRAJA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TextBox 3"/>
          <p:cNvSpPr txBox="1"/>
          <p:nvPr/>
        </p:nvSpPr>
        <p:spPr>
          <a:xfrm>
            <a:off x="1028700" y="2020594"/>
            <a:ext cx="8115300" cy="873633"/>
          </a:xfrm>
          <a:prstGeom prst="rect">
            <a:avLst/>
          </a:prstGeom>
        </p:spPr>
        <p:txBody>
          <a:bodyPr lIns="0" tIns="0" rIns="0" bIns="0" rtlCol="0" anchor="t">
            <a:spAutoFit/>
          </a:bodyPr>
          <a:lstStyle/>
          <a:p>
            <a:pPr algn="l">
              <a:lnSpc>
                <a:spcPts val="6336"/>
              </a:lnSpc>
            </a:pPr>
            <a:r>
              <a:rPr lang="en-US" sz="7200">
                <a:solidFill>
                  <a:srgbClr val="104772"/>
                </a:solidFill>
                <a:latin typeface="Abril Fatface"/>
                <a:ea typeface="Abril Fatface"/>
                <a:cs typeface="Abril Fatface"/>
                <a:sym typeface="Abril Fatface"/>
              </a:rPr>
              <a:t>About the Website</a:t>
            </a:r>
          </a:p>
        </p:txBody>
      </p:sp>
      <p:sp>
        <p:nvSpPr>
          <p:cNvPr id="4" name="TextBox 4"/>
          <p:cNvSpPr txBox="1"/>
          <p:nvPr/>
        </p:nvSpPr>
        <p:spPr>
          <a:xfrm>
            <a:off x="1028700" y="3553974"/>
            <a:ext cx="16230600" cy="5438051"/>
          </a:xfrm>
          <a:prstGeom prst="rect">
            <a:avLst/>
          </a:prstGeom>
        </p:spPr>
        <p:txBody>
          <a:bodyPr lIns="0" tIns="0" rIns="0" bIns="0" rtlCol="0" anchor="t">
            <a:spAutoFit/>
          </a:bodyPr>
          <a:lstStyle/>
          <a:p>
            <a:pPr algn="just">
              <a:lnSpc>
                <a:spcPts val="4764"/>
              </a:lnSpc>
            </a:pPr>
            <a:r>
              <a:rPr lang="en-US" sz="3403">
                <a:solidFill>
                  <a:srgbClr val="104772"/>
                </a:solidFill>
                <a:latin typeface="Codec Pro"/>
                <a:ea typeface="Codec Pro"/>
                <a:cs typeface="Codec Pro"/>
                <a:sym typeface="Codec Pro"/>
              </a:rPr>
              <a:t>Our website provides a seamless doctor appointment booking and online consultation platform specializing in acupuncture and hypnotherapy. We focus on natural healing methods to help with stress, anxiety, pain, and other health concerns. Run by a certified expert, we offer both in-clinic and virtual consultations for personalized treatment. Patients can explore secure payment options, easy appointment scheduling, and customized healing plans. With a commitment to safe, drug-free treatments, we help individuals achieve better health naturally. Book your consultation today and start your journey toward holistic healing!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TextBox 3"/>
          <p:cNvSpPr txBox="1"/>
          <p:nvPr/>
        </p:nvSpPr>
        <p:spPr>
          <a:xfrm>
            <a:off x="1028700" y="2020594"/>
            <a:ext cx="10591384" cy="873633"/>
          </a:xfrm>
          <a:prstGeom prst="rect">
            <a:avLst/>
          </a:prstGeom>
        </p:spPr>
        <p:txBody>
          <a:bodyPr lIns="0" tIns="0" rIns="0" bIns="0" rtlCol="0" anchor="t">
            <a:spAutoFit/>
          </a:bodyPr>
          <a:lstStyle/>
          <a:p>
            <a:pPr algn="l">
              <a:lnSpc>
                <a:spcPts val="6336"/>
              </a:lnSpc>
            </a:pPr>
            <a:r>
              <a:rPr lang="en-US" sz="7200">
                <a:solidFill>
                  <a:srgbClr val="104772"/>
                </a:solidFill>
                <a:latin typeface="Abril Fatface"/>
                <a:ea typeface="Abril Fatface"/>
                <a:cs typeface="Abril Fatface"/>
                <a:sym typeface="Abril Fatface"/>
              </a:rPr>
              <a:t>Hardware Requirements</a:t>
            </a:r>
          </a:p>
        </p:txBody>
      </p:sp>
      <p:grpSp>
        <p:nvGrpSpPr>
          <p:cNvPr id="4" name="Group 4"/>
          <p:cNvGrpSpPr/>
          <p:nvPr/>
        </p:nvGrpSpPr>
        <p:grpSpPr>
          <a:xfrm>
            <a:off x="4050798" y="3587199"/>
            <a:ext cx="10455797" cy="5853528"/>
            <a:chOff x="0" y="0"/>
            <a:chExt cx="2753790" cy="1541670"/>
          </a:xfrm>
        </p:grpSpPr>
        <p:sp>
          <p:nvSpPr>
            <p:cNvPr id="5" name="Freeform 5"/>
            <p:cNvSpPr/>
            <p:nvPr/>
          </p:nvSpPr>
          <p:spPr>
            <a:xfrm>
              <a:off x="0" y="0"/>
              <a:ext cx="2753790" cy="1541670"/>
            </a:xfrm>
            <a:custGeom>
              <a:avLst/>
              <a:gdLst/>
              <a:ahLst/>
              <a:cxnLst/>
              <a:rect l="l" t="t" r="r" b="b"/>
              <a:pathLst>
                <a:path w="2753790" h="1541670">
                  <a:moveTo>
                    <a:pt x="0" y="0"/>
                  </a:moveTo>
                  <a:lnTo>
                    <a:pt x="2753790" y="0"/>
                  </a:lnTo>
                  <a:lnTo>
                    <a:pt x="2753790" y="1541670"/>
                  </a:lnTo>
                  <a:lnTo>
                    <a:pt x="0" y="1541670"/>
                  </a:lnTo>
                  <a:close/>
                </a:path>
              </a:pathLst>
            </a:custGeom>
            <a:solidFill>
              <a:srgbClr val="000000">
                <a:alpha val="0"/>
              </a:srgbClr>
            </a:solidFill>
            <a:ln w="38100" cap="sq">
              <a:solidFill>
                <a:srgbClr val="000000"/>
              </a:solidFill>
              <a:prstDash val="solid"/>
              <a:miter/>
            </a:ln>
          </p:spPr>
        </p:sp>
        <p:sp>
          <p:nvSpPr>
            <p:cNvPr id="6" name="TextBox 6"/>
            <p:cNvSpPr txBox="1"/>
            <p:nvPr/>
          </p:nvSpPr>
          <p:spPr>
            <a:xfrm>
              <a:off x="0" y="-38100"/>
              <a:ext cx="2753790" cy="157977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4050798" y="3587199"/>
            <a:ext cx="5246949" cy="5853528"/>
            <a:chOff x="0" y="0"/>
            <a:chExt cx="1381912" cy="1541670"/>
          </a:xfrm>
        </p:grpSpPr>
        <p:sp>
          <p:nvSpPr>
            <p:cNvPr id="8" name="Freeform 8"/>
            <p:cNvSpPr/>
            <p:nvPr/>
          </p:nvSpPr>
          <p:spPr>
            <a:xfrm>
              <a:off x="0" y="0"/>
              <a:ext cx="1381912" cy="1541670"/>
            </a:xfrm>
            <a:custGeom>
              <a:avLst/>
              <a:gdLst/>
              <a:ahLst/>
              <a:cxnLst/>
              <a:rect l="l" t="t" r="r" b="b"/>
              <a:pathLst>
                <a:path w="1381912" h="1541670">
                  <a:moveTo>
                    <a:pt x="0" y="0"/>
                  </a:moveTo>
                  <a:lnTo>
                    <a:pt x="1381912" y="0"/>
                  </a:lnTo>
                  <a:lnTo>
                    <a:pt x="1381912" y="1541670"/>
                  </a:lnTo>
                  <a:lnTo>
                    <a:pt x="0" y="1541670"/>
                  </a:lnTo>
                  <a:close/>
                </a:path>
              </a:pathLst>
            </a:custGeom>
            <a:solidFill>
              <a:srgbClr val="000000">
                <a:alpha val="0"/>
              </a:srgbClr>
            </a:solidFill>
            <a:ln w="38100" cap="sq">
              <a:solidFill>
                <a:srgbClr val="000000"/>
              </a:solidFill>
              <a:prstDash val="solid"/>
              <a:miter/>
            </a:ln>
          </p:spPr>
        </p:sp>
        <p:sp>
          <p:nvSpPr>
            <p:cNvPr id="9" name="TextBox 9"/>
            <p:cNvSpPr txBox="1"/>
            <p:nvPr/>
          </p:nvSpPr>
          <p:spPr>
            <a:xfrm>
              <a:off x="0" y="-38100"/>
              <a:ext cx="1381912" cy="157977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4050798" y="7953584"/>
            <a:ext cx="5246949" cy="1487142"/>
            <a:chOff x="0" y="0"/>
            <a:chExt cx="1381912" cy="391675"/>
          </a:xfrm>
        </p:grpSpPr>
        <p:sp>
          <p:nvSpPr>
            <p:cNvPr id="11" name="Freeform 11"/>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12" name="TextBox 12"/>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4050798" y="6504542"/>
            <a:ext cx="5246949" cy="1487142"/>
            <a:chOff x="0" y="0"/>
            <a:chExt cx="1381912" cy="391675"/>
          </a:xfrm>
        </p:grpSpPr>
        <p:sp>
          <p:nvSpPr>
            <p:cNvPr id="14" name="Freeform 14"/>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4041273" y="5055500"/>
            <a:ext cx="5246949" cy="1487142"/>
            <a:chOff x="0" y="0"/>
            <a:chExt cx="1381912" cy="391675"/>
          </a:xfrm>
        </p:grpSpPr>
        <p:sp>
          <p:nvSpPr>
            <p:cNvPr id="17" name="Freeform 17"/>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18" name="TextBox 18"/>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4050798" y="3596724"/>
            <a:ext cx="5246949" cy="1487142"/>
            <a:chOff x="0" y="0"/>
            <a:chExt cx="1381912" cy="391675"/>
          </a:xfrm>
        </p:grpSpPr>
        <p:sp>
          <p:nvSpPr>
            <p:cNvPr id="20" name="Freeform 20"/>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21" name="TextBox 21"/>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259647" y="3596724"/>
            <a:ext cx="5246949" cy="1487142"/>
            <a:chOff x="0" y="0"/>
            <a:chExt cx="1381912" cy="391675"/>
          </a:xfrm>
        </p:grpSpPr>
        <p:sp>
          <p:nvSpPr>
            <p:cNvPr id="23" name="Freeform 23"/>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24" name="TextBox 24"/>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9259647" y="5045975"/>
            <a:ext cx="5246949" cy="1487142"/>
            <a:chOff x="0" y="0"/>
            <a:chExt cx="1381912" cy="391675"/>
          </a:xfrm>
        </p:grpSpPr>
        <p:sp>
          <p:nvSpPr>
            <p:cNvPr id="26" name="Freeform 26"/>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27" name="TextBox 27"/>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9259647" y="6495017"/>
            <a:ext cx="5246949" cy="1487142"/>
            <a:chOff x="0" y="0"/>
            <a:chExt cx="1381912" cy="391675"/>
          </a:xfrm>
        </p:grpSpPr>
        <p:sp>
          <p:nvSpPr>
            <p:cNvPr id="29" name="Freeform 29"/>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30" name="TextBox 30"/>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31" name="Group 31"/>
          <p:cNvGrpSpPr/>
          <p:nvPr/>
        </p:nvGrpSpPr>
        <p:grpSpPr>
          <a:xfrm>
            <a:off x="9259647" y="7953584"/>
            <a:ext cx="5246949" cy="1487142"/>
            <a:chOff x="0" y="0"/>
            <a:chExt cx="1381912" cy="391675"/>
          </a:xfrm>
        </p:grpSpPr>
        <p:sp>
          <p:nvSpPr>
            <p:cNvPr id="32" name="Freeform 32"/>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33" name="TextBox 33"/>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4511949" y="3858647"/>
            <a:ext cx="4305598" cy="795020"/>
          </a:xfrm>
          <a:prstGeom prst="rect">
            <a:avLst/>
          </a:prstGeom>
        </p:spPr>
        <p:txBody>
          <a:bodyPr lIns="0" tIns="0" rIns="0" bIns="0" rtlCol="0" anchor="t">
            <a:spAutoFit/>
          </a:bodyPr>
          <a:lstStyle/>
          <a:p>
            <a:pPr algn="ctr">
              <a:lnSpc>
                <a:spcPts val="6580"/>
              </a:lnSpc>
            </a:pPr>
            <a:r>
              <a:rPr lang="en-US" sz="4700" b="1">
                <a:solidFill>
                  <a:srgbClr val="104772"/>
                </a:solidFill>
                <a:latin typeface="Canva Sans Bold"/>
                <a:ea typeface="Canva Sans Bold"/>
                <a:cs typeface="Canva Sans Bold"/>
                <a:sym typeface="Canva Sans Bold"/>
              </a:rPr>
              <a:t>COMPONENTS</a:t>
            </a:r>
          </a:p>
        </p:txBody>
      </p:sp>
      <p:sp>
        <p:nvSpPr>
          <p:cNvPr id="35" name="TextBox 35"/>
          <p:cNvSpPr txBox="1"/>
          <p:nvPr/>
        </p:nvSpPr>
        <p:spPr>
          <a:xfrm>
            <a:off x="9540536" y="3883412"/>
            <a:ext cx="4628020" cy="846386"/>
          </a:xfrm>
          <a:prstGeom prst="rect">
            <a:avLst/>
          </a:prstGeom>
        </p:spPr>
        <p:txBody>
          <a:bodyPr wrap="square" lIns="0" tIns="0" rIns="0" bIns="0" rtlCol="0" anchor="t">
            <a:spAutoFit/>
          </a:bodyPr>
          <a:lstStyle/>
          <a:p>
            <a:pPr algn="ctr">
              <a:lnSpc>
                <a:spcPts val="6580"/>
              </a:lnSpc>
            </a:pPr>
            <a:r>
              <a:rPr lang="en-US" sz="4700" b="1" dirty="0">
                <a:solidFill>
                  <a:srgbClr val="104772"/>
                </a:solidFill>
                <a:latin typeface="Canva Sans Bold"/>
                <a:ea typeface="Canva Sans Bold"/>
                <a:cs typeface="Canva Sans Bold"/>
                <a:sym typeface="Canva Sans Bold"/>
              </a:rPr>
              <a:t>REQUIREMENT</a:t>
            </a:r>
          </a:p>
        </p:txBody>
      </p:sp>
      <p:sp>
        <p:nvSpPr>
          <p:cNvPr id="36" name="TextBox 36"/>
          <p:cNvSpPr txBox="1"/>
          <p:nvPr/>
        </p:nvSpPr>
        <p:spPr>
          <a:xfrm>
            <a:off x="5901370" y="6860764"/>
            <a:ext cx="1383133" cy="718145"/>
          </a:xfrm>
          <a:prstGeom prst="rect">
            <a:avLst/>
          </a:prstGeom>
        </p:spPr>
        <p:txBody>
          <a:bodyPr wrap="square" lIns="0" tIns="0" rIns="0" bIns="0" rtlCol="0" anchor="t">
            <a:spAutoFit/>
          </a:bodyPr>
          <a:lstStyle/>
          <a:p>
            <a:pPr algn="ctr">
              <a:lnSpc>
                <a:spcPts val="5600"/>
              </a:lnSpc>
            </a:pPr>
            <a:r>
              <a:rPr lang="en-US" sz="4000" b="1" dirty="0">
                <a:solidFill>
                  <a:srgbClr val="104772"/>
                </a:solidFill>
                <a:latin typeface="Canva Sans Bold"/>
                <a:ea typeface="Canva Sans Bold"/>
                <a:cs typeface="Canva Sans Bold"/>
                <a:sym typeface="Canva Sans Bold"/>
              </a:rPr>
              <a:t>RAM</a:t>
            </a:r>
          </a:p>
        </p:txBody>
      </p:sp>
      <p:sp>
        <p:nvSpPr>
          <p:cNvPr id="37" name="TextBox 37"/>
          <p:cNvSpPr txBox="1"/>
          <p:nvPr/>
        </p:nvSpPr>
        <p:spPr>
          <a:xfrm>
            <a:off x="10850670" y="5411721"/>
            <a:ext cx="2007752" cy="718145"/>
          </a:xfrm>
          <a:prstGeom prst="rect">
            <a:avLst/>
          </a:prstGeom>
        </p:spPr>
        <p:txBody>
          <a:bodyPr wrap="square" lIns="0" tIns="0" rIns="0" bIns="0" rtlCol="0" anchor="t">
            <a:spAutoFit/>
          </a:bodyPr>
          <a:lstStyle/>
          <a:p>
            <a:pPr algn="ctr">
              <a:lnSpc>
                <a:spcPts val="5600"/>
              </a:lnSpc>
            </a:pPr>
            <a:r>
              <a:rPr lang="en-US" sz="4000" b="1" dirty="0">
                <a:solidFill>
                  <a:srgbClr val="104772"/>
                </a:solidFill>
                <a:latin typeface="Canva Sans Bold"/>
                <a:ea typeface="Canva Sans Bold"/>
                <a:cs typeface="Canva Sans Bold"/>
                <a:sym typeface="Canva Sans Bold"/>
              </a:rPr>
              <a:t>Intel i5</a:t>
            </a:r>
          </a:p>
        </p:txBody>
      </p:sp>
      <p:sp>
        <p:nvSpPr>
          <p:cNvPr id="38" name="TextBox 38"/>
          <p:cNvSpPr txBox="1"/>
          <p:nvPr/>
        </p:nvSpPr>
        <p:spPr>
          <a:xfrm>
            <a:off x="5234322" y="5402196"/>
            <a:ext cx="2717229" cy="718145"/>
          </a:xfrm>
          <a:prstGeom prst="rect">
            <a:avLst/>
          </a:prstGeom>
        </p:spPr>
        <p:txBody>
          <a:bodyPr wrap="square" lIns="0" tIns="0" rIns="0" bIns="0" rtlCol="0" anchor="t">
            <a:spAutoFit/>
          </a:bodyPr>
          <a:lstStyle/>
          <a:p>
            <a:pPr algn="ctr">
              <a:lnSpc>
                <a:spcPts val="5600"/>
              </a:lnSpc>
            </a:pPr>
            <a:r>
              <a:rPr lang="en-US" sz="4000" b="1" dirty="0">
                <a:solidFill>
                  <a:srgbClr val="104772"/>
                </a:solidFill>
                <a:latin typeface="Canva Sans Bold"/>
                <a:ea typeface="Canva Sans Bold"/>
                <a:cs typeface="Canva Sans Bold"/>
                <a:sym typeface="Canva Sans Bold"/>
              </a:rPr>
              <a:t>Processor</a:t>
            </a:r>
          </a:p>
        </p:txBody>
      </p:sp>
      <p:sp>
        <p:nvSpPr>
          <p:cNvPr id="39" name="TextBox 39"/>
          <p:cNvSpPr txBox="1"/>
          <p:nvPr/>
        </p:nvSpPr>
        <p:spPr>
          <a:xfrm>
            <a:off x="4343973" y="8280337"/>
            <a:ext cx="4497925" cy="718145"/>
          </a:xfrm>
          <a:prstGeom prst="rect">
            <a:avLst/>
          </a:prstGeom>
        </p:spPr>
        <p:txBody>
          <a:bodyPr wrap="square" lIns="0" tIns="0" rIns="0" bIns="0" rtlCol="0" anchor="t">
            <a:spAutoFit/>
          </a:bodyPr>
          <a:lstStyle/>
          <a:p>
            <a:pPr algn="ctr">
              <a:lnSpc>
                <a:spcPts val="5600"/>
              </a:lnSpc>
            </a:pPr>
            <a:r>
              <a:rPr lang="en-US" sz="4000" b="1" dirty="0">
                <a:solidFill>
                  <a:srgbClr val="104772"/>
                </a:solidFill>
                <a:latin typeface="Canva Sans Bold"/>
                <a:ea typeface="Canva Sans Bold"/>
                <a:cs typeface="Canva Sans Bold"/>
                <a:sym typeface="Canva Sans Bold"/>
              </a:rPr>
              <a:t>Hard Disk/SSD</a:t>
            </a:r>
          </a:p>
        </p:txBody>
      </p:sp>
      <p:sp>
        <p:nvSpPr>
          <p:cNvPr id="40" name="TextBox 40"/>
          <p:cNvSpPr txBox="1"/>
          <p:nvPr/>
        </p:nvSpPr>
        <p:spPr>
          <a:xfrm>
            <a:off x="11272628" y="6818867"/>
            <a:ext cx="1163836" cy="688974"/>
          </a:xfrm>
          <a:prstGeom prst="rect">
            <a:avLst/>
          </a:prstGeom>
        </p:spPr>
        <p:txBody>
          <a:bodyPr lIns="0" tIns="0" rIns="0" bIns="0" rtlCol="0" anchor="t">
            <a:spAutoFit/>
          </a:bodyPr>
          <a:lstStyle/>
          <a:p>
            <a:pPr algn="ctr">
              <a:lnSpc>
                <a:spcPts val="5600"/>
              </a:lnSpc>
            </a:pPr>
            <a:r>
              <a:rPr lang="en-US" sz="4000" b="1">
                <a:solidFill>
                  <a:srgbClr val="104772"/>
                </a:solidFill>
                <a:latin typeface="Canva Sans Bold"/>
                <a:ea typeface="Canva Sans Bold"/>
                <a:cs typeface="Canva Sans Bold"/>
                <a:sym typeface="Canva Sans Bold"/>
              </a:rPr>
              <a:t>8 GB</a:t>
            </a:r>
          </a:p>
        </p:txBody>
      </p:sp>
      <p:sp>
        <p:nvSpPr>
          <p:cNvPr id="41" name="TextBox 41"/>
          <p:cNvSpPr txBox="1"/>
          <p:nvPr/>
        </p:nvSpPr>
        <p:spPr>
          <a:xfrm>
            <a:off x="11017016" y="8286959"/>
            <a:ext cx="1675061" cy="688974"/>
          </a:xfrm>
          <a:prstGeom prst="rect">
            <a:avLst/>
          </a:prstGeom>
        </p:spPr>
        <p:txBody>
          <a:bodyPr lIns="0" tIns="0" rIns="0" bIns="0" rtlCol="0" anchor="t">
            <a:spAutoFit/>
          </a:bodyPr>
          <a:lstStyle/>
          <a:p>
            <a:pPr algn="ctr">
              <a:lnSpc>
                <a:spcPts val="5600"/>
              </a:lnSpc>
            </a:pPr>
            <a:r>
              <a:rPr lang="en-US" sz="4000" b="1">
                <a:solidFill>
                  <a:srgbClr val="104772"/>
                </a:solidFill>
                <a:latin typeface="Canva Sans Bold"/>
                <a:ea typeface="Canva Sans Bold"/>
                <a:cs typeface="Canva Sans Bold"/>
                <a:sym typeface="Canva Sans Bold"/>
              </a:rPr>
              <a:t>250 gb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65083" y="-4766226"/>
            <a:ext cx="9639356" cy="8229600"/>
          </a:xfrm>
          <a:custGeom>
            <a:avLst/>
            <a:gdLst/>
            <a:ahLst/>
            <a:cxnLst/>
            <a:rect l="l" t="t" r="r" b="b"/>
            <a:pathLst>
              <a:path w="9639356" h="8229600">
                <a:moveTo>
                  <a:pt x="0" y="0"/>
                </a:moveTo>
                <a:lnTo>
                  <a:pt x="9639355" y="0"/>
                </a:lnTo>
                <a:lnTo>
                  <a:pt x="9639355" y="8229600"/>
                </a:lnTo>
                <a:lnTo>
                  <a:pt x="0" y="8229600"/>
                </a:lnTo>
                <a:lnTo>
                  <a:pt x="0" y="0"/>
                </a:lnTo>
                <a:close/>
              </a:path>
            </a:pathLst>
          </a:custGeom>
          <a:blipFill>
            <a:blip r:embed="rId2"/>
            <a:stretch>
              <a:fillRect/>
            </a:stretch>
          </a:blipFill>
        </p:spPr>
      </p:sp>
      <p:grpSp>
        <p:nvGrpSpPr>
          <p:cNvPr id="3" name="Group 3"/>
          <p:cNvGrpSpPr/>
          <p:nvPr/>
        </p:nvGrpSpPr>
        <p:grpSpPr>
          <a:xfrm>
            <a:off x="4050798" y="3587199"/>
            <a:ext cx="10455797" cy="5853528"/>
            <a:chOff x="0" y="0"/>
            <a:chExt cx="2753790" cy="1541670"/>
          </a:xfrm>
        </p:grpSpPr>
        <p:sp>
          <p:nvSpPr>
            <p:cNvPr id="4" name="Freeform 4"/>
            <p:cNvSpPr/>
            <p:nvPr/>
          </p:nvSpPr>
          <p:spPr>
            <a:xfrm>
              <a:off x="0" y="0"/>
              <a:ext cx="2753790" cy="1541670"/>
            </a:xfrm>
            <a:custGeom>
              <a:avLst/>
              <a:gdLst/>
              <a:ahLst/>
              <a:cxnLst/>
              <a:rect l="l" t="t" r="r" b="b"/>
              <a:pathLst>
                <a:path w="2753790" h="1541670">
                  <a:moveTo>
                    <a:pt x="0" y="0"/>
                  </a:moveTo>
                  <a:lnTo>
                    <a:pt x="2753790" y="0"/>
                  </a:lnTo>
                  <a:lnTo>
                    <a:pt x="2753790" y="1541670"/>
                  </a:lnTo>
                  <a:lnTo>
                    <a:pt x="0" y="1541670"/>
                  </a:lnTo>
                  <a:close/>
                </a:path>
              </a:pathLst>
            </a:custGeom>
            <a:solidFill>
              <a:srgbClr val="000000">
                <a:alpha val="0"/>
              </a:srgbClr>
            </a:solidFill>
            <a:ln w="38100" cap="sq">
              <a:solidFill>
                <a:srgbClr val="000000"/>
              </a:solidFill>
              <a:prstDash val="solid"/>
              <a:miter/>
            </a:ln>
          </p:spPr>
        </p:sp>
        <p:sp>
          <p:nvSpPr>
            <p:cNvPr id="5" name="TextBox 5"/>
            <p:cNvSpPr txBox="1"/>
            <p:nvPr/>
          </p:nvSpPr>
          <p:spPr>
            <a:xfrm>
              <a:off x="0" y="-38100"/>
              <a:ext cx="2753790" cy="157977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2011069"/>
            <a:ext cx="10311844" cy="873633"/>
          </a:xfrm>
          <a:prstGeom prst="rect">
            <a:avLst/>
          </a:prstGeom>
        </p:spPr>
        <p:txBody>
          <a:bodyPr lIns="0" tIns="0" rIns="0" bIns="0" rtlCol="0" anchor="t">
            <a:spAutoFit/>
          </a:bodyPr>
          <a:lstStyle/>
          <a:p>
            <a:pPr algn="l">
              <a:lnSpc>
                <a:spcPts val="6336"/>
              </a:lnSpc>
            </a:pPr>
            <a:r>
              <a:rPr lang="en-US" sz="7200">
                <a:solidFill>
                  <a:srgbClr val="104772"/>
                </a:solidFill>
                <a:latin typeface="Abril Fatface"/>
                <a:ea typeface="Abril Fatface"/>
                <a:cs typeface="Abril Fatface"/>
                <a:sym typeface="Abril Fatface"/>
              </a:rPr>
              <a:t>Software Requirements</a:t>
            </a:r>
          </a:p>
        </p:txBody>
      </p:sp>
      <p:grpSp>
        <p:nvGrpSpPr>
          <p:cNvPr id="7" name="Group 7"/>
          <p:cNvGrpSpPr/>
          <p:nvPr/>
        </p:nvGrpSpPr>
        <p:grpSpPr>
          <a:xfrm>
            <a:off x="4050798" y="3587199"/>
            <a:ext cx="5246949" cy="5853528"/>
            <a:chOff x="0" y="0"/>
            <a:chExt cx="1381912" cy="1541670"/>
          </a:xfrm>
        </p:grpSpPr>
        <p:sp>
          <p:nvSpPr>
            <p:cNvPr id="8" name="Freeform 8"/>
            <p:cNvSpPr/>
            <p:nvPr/>
          </p:nvSpPr>
          <p:spPr>
            <a:xfrm>
              <a:off x="0" y="0"/>
              <a:ext cx="1381912" cy="1541670"/>
            </a:xfrm>
            <a:custGeom>
              <a:avLst/>
              <a:gdLst/>
              <a:ahLst/>
              <a:cxnLst/>
              <a:rect l="l" t="t" r="r" b="b"/>
              <a:pathLst>
                <a:path w="1381912" h="1541670">
                  <a:moveTo>
                    <a:pt x="0" y="0"/>
                  </a:moveTo>
                  <a:lnTo>
                    <a:pt x="1381912" y="0"/>
                  </a:lnTo>
                  <a:lnTo>
                    <a:pt x="1381912" y="1541670"/>
                  </a:lnTo>
                  <a:lnTo>
                    <a:pt x="0" y="1541670"/>
                  </a:lnTo>
                  <a:close/>
                </a:path>
              </a:pathLst>
            </a:custGeom>
            <a:solidFill>
              <a:srgbClr val="000000">
                <a:alpha val="0"/>
              </a:srgbClr>
            </a:solidFill>
            <a:ln w="38100" cap="sq">
              <a:solidFill>
                <a:srgbClr val="000000"/>
              </a:solidFill>
              <a:prstDash val="solid"/>
              <a:miter/>
            </a:ln>
          </p:spPr>
        </p:sp>
        <p:sp>
          <p:nvSpPr>
            <p:cNvPr id="9" name="TextBox 9"/>
            <p:cNvSpPr txBox="1"/>
            <p:nvPr/>
          </p:nvSpPr>
          <p:spPr>
            <a:xfrm>
              <a:off x="0" y="-38100"/>
              <a:ext cx="1381912" cy="157977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4050798" y="7953584"/>
            <a:ext cx="5246949" cy="1487142"/>
            <a:chOff x="0" y="0"/>
            <a:chExt cx="1381912" cy="391675"/>
          </a:xfrm>
        </p:grpSpPr>
        <p:sp>
          <p:nvSpPr>
            <p:cNvPr id="11" name="Freeform 11"/>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12" name="TextBox 12"/>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4050798" y="6504542"/>
            <a:ext cx="5246949" cy="1487142"/>
            <a:chOff x="0" y="0"/>
            <a:chExt cx="1381912" cy="391675"/>
          </a:xfrm>
        </p:grpSpPr>
        <p:sp>
          <p:nvSpPr>
            <p:cNvPr id="14" name="Freeform 14"/>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4041273" y="5055500"/>
            <a:ext cx="5246949" cy="1487142"/>
            <a:chOff x="0" y="0"/>
            <a:chExt cx="1381912" cy="391675"/>
          </a:xfrm>
        </p:grpSpPr>
        <p:sp>
          <p:nvSpPr>
            <p:cNvPr id="17" name="Freeform 17"/>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18" name="TextBox 18"/>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4050798" y="3596724"/>
            <a:ext cx="5246949" cy="1487142"/>
            <a:chOff x="0" y="0"/>
            <a:chExt cx="1381912" cy="391675"/>
          </a:xfrm>
        </p:grpSpPr>
        <p:sp>
          <p:nvSpPr>
            <p:cNvPr id="20" name="Freeform 20"/>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21" name="TextBox 21"/>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259647" y="3596724"/>
            <a:ext cx="5246949" cy="1487142"/>
            <a:chOff x="0" y="0"/>
            <a:chExt cx="1381912" cy="391675"/>
          </a:xfrm>
        </p:grpSpPr>
        <p:sp>
          <p:nvSpPr>
            <p:cNvPr id="23" name="Freeform 23"/>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24" name="TextBox 24"/>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9259647" y="5045975"/>
            <a:ext cx="5246949" cy="1487142"/>
            <a:chOff x="0" y="0"/>
            <a:chExt cx="1381912" cy="391675"/>
          </a:xfrm>
        </p:grpSpPr>
        <p:sp>
          <p:nvSpPr>
            <p:cNvPr id="26" name="Freeform 26"/>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27" name="TextBox 27"/>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9259647" y="6495017"/>
            <a:ext cx="5246949" cy="1487142"/>
            <a:chOff x="0" y="0"/>
            <a:chExt cx="1381912" cy="391675"/>
          </a:xfrm>
        </p:grpSpPr>
        <p:sp>
          <p:nvSpPr>
            <p:cNvPr id="29" name="Freeform 29"/>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30" name="TextBox 30"/>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grpSp>
        <p:nvGrpSpPr>
          <p:cNvPr id="31" name="Group 31"/>
          <p:cNvGrpSpPr/>
          <p:nvPr/>
        </p:nvGrpSpPr>
        <p:grpSpPr>
          <a:xfrm>
            <a:off x="9259647" y="7953584"/>
            <a:ext cx="5246949" cy="1487142"/>
            <a:chOff x="0" y="0"/>
            <a:chExt cx="1381912" cy="391675"/>
          </a:xfrm>
        </p:grpSpPr>
        <p:sp>
          <p:nvSpPr>
            <p:cNvPr id="32" name="Freeform 32"/>
            <p:cNvSpPr/>
            <p:nvPr/>
          </p:nvSpPr>
          <p:spPr>
            <a:xfrm>
              <a:off x="0" y="0"/>
              <a:ext cx="1381912" cy="391675"/>
            </a:xfrm>
            <a:custGeom>
              <a:avLst/>
              <a:gdLst/>
              <a:ahLst/>
              <a:cxnLst/>
              <a:rect l="l" t="t" r="r" b="b"/>
              <a:pathLst>
                <a:path w="1381912" h="391675">
                  <a:moveTo>
                    <a:pt x="0" y="0"/>
                  </a:moveTo>
                  <a:lnTo>
                    <a:pt x="1381912" y="0"/>
                  </a:lnTo>
                  <a:lnTo>
                    <a:pt x="1381912" y="391675"/>
                  </a:lnTo>
                  <a:lnTo>
                    <a:pt x="0" y="391675"/>
                  </a:lnTo>
                  <a:close/>
                </a:path>
              </a:pathLst>
            </a:custGeom>
            <a:solidFill>
              <a:srgbClr val="000000">
                <a:alpha val="0"/>
              </a:srgbClr>
            </a:solidFill>
            <a:ln w="38100" cap="sq">
              <a:solidFill>
                <a:srgbClr val="000000"/>
              </a:solidFill>
              <a:prstDash val="solid"/>
              <a:miter/>
            </a:ln>
          </p:spPr>
        </p:sp>
        <p:sp>
          <p:nvSpPr>
            <p:cNvPr id="33" name="TextBox 33"/>
            <p:cNvSpPr txBox="1"/>
            <p:nvPr/>
          </p:nvSpPr>
          <p:spPr>
            <a:xfrm>
              <a:off x="0" y="-38100"/>
              <a:ext cx="1381912" cy="429775"/>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4776043" y="3858647"/>
            <a:ext cx="3633787" cy="884858"/>
          </a:xfrm>
          <a:prstGeom prst="rect">
            <a:avLst/>
          </a:prstGeom>
        </p:spPr>
        <p:txBody>
          <a:bodyPr wrap="square" lIns="0" tIns="0" rIns="0" bIns="0" rtlCol="0" anchor="t">
            <a:spAutoFit/>
          </a:bodyPr>
          <a:lstStyle/>
          <a:p>
            <a:pPr algn="ctr">
              <a:lnSpc>
                <a:spcPts val="6860"/>
              </a:lnSpc>
            </a:pPr>
            <a:r>
              <a:rPr lang="en-US" sz="4900" b="1" dirty="0">
                <a:solidFill>
                  <a:srgbClr val="104772"/>
                </a:solidFill>
                <a:latin typeface="Canva Sans Bold"/>
                <a:ea typeface="Canva Sans Bold"/>
                <a:cs typeface="Canva Sans Bold"/>
                <a:sym typeface="Canva Sans Bold"/>
              </a:rPr>
              <a:t>SOFTWARE</a:t>
            </a:r>
          </a:p>
        </p:txBody>
      </p:sp>
      <p:sp>
        <p:nvSpPr>
          <p:cNvPr id="35" name="TextBox 35"/>
          <p:cNvSpPr txBox="1"/>
          <p:nvPr/>
        </p:nvSpPr>
        <p:spPr>
          <a:xfrm>
            <a:off x="10411515" y="3883412"/>
            <a:ext cx="2886061" cy="884858"/>
          </a:xfrm>
          <a:prstGeom prst="rect">
            <a:avLst/>
          </a:prstGeom>
        </p:spPr>
        <p:txBody>
          <a:bodyPr wrap="square" lIns="0" tIns="0" rIns="0" bIns="0" rtlCol="0" anchor="t">
            <a:spAutoFit/>
          </a:bodyPr>
          <a:lstStyle/>
          <a:p>
            <a:pPr algn="ctr">
              <a:lnSpc>
                <a:spcPts val="6860"/>
              </a:lnSpc>
            </a:pPr>
            <a:r>
              <a:rPr lang="en-US" sz="4900" b="1" dirty="0">
                <a:solidFill>
                  <a:srgbClr val="104772"/>
                </a:solidFill>
                <a:latin typeface="Canva Sans Bold"/>
                <a:ea typeface="Canva Sans Bold"/>
                <a:cs typeface="Canva Sans Bold"/>
                <a:sym typeface="Canva Sans Bold"/>
              </a:rPr>
              <a:t>DETAILS</a:t>
            </a:r>
          </a:p>
        </p:txBody>
      </p:sp>
      <p:sp>
        <p:nvSpPr>
          <p:cNvPr id="36" name="TextBox 36"/>
          <p:cNvSpPr txBox="1"/>
          <p:nvPr/>
        </p:nvSpPr>
        <p:spPr>
          <a:xfrm>
            <a:off x="4976068" y="6894101"/>
            <a:ext cx="3233737" cy="718145"/>
          </a:xfrm>
          <a:prstGeom prst="rect">
            <a:avLst/>
          </a:prstGeom>
        </p:spPr>
        <p:txBody>
          <a:bodyPr wrap="square" lIns="0" tIns="0" rIns="0" bIns="0" rtlCol="0" anchor="t">
            <a:spAutoFit/>
          </a:bodyPr>
          <a:lstStyle/>
          <a:p>
            <a:pPr algn="ctr">
              <a:lnSpc>
                <a:spcPts val="5600"/>
              </a:lnSpc>
            </a:pPr>
            <a:r>
              <a:rPr lang="en-US" sz="4000" b="1" dirty="0">
                <a:solidFill>
                  <a:srgbClr val="104772"/>
                </a:solidFill>
                <a:latin typeface="Canva Sans Bold"/>
                <a:ea typeface="Canva Sans Bold"/>
                <a:cs typeface="Canva Sans Bold"/>
                <a:sym typeface="Canva Sans Bold"/>
              </a:rPr>
              <a:t>Front End</a:t>
            </a:r>
          </a:p>
        </p:txBody>
      </p:sp>
      <p:sp>
        <p:nvSpPr>
          <p:cNvPr id="37" name="TextBox 37"/>
          <p:cNvSpPr txBox="1"/>
          <p:nvPr/>
        </p:nvSpPr>
        <p:spPr>
          <a:xfrm>
            <a:off x="9954383" y="5411721"/>
            <a:ext cx="3857476" cy="688974"/>
          </a:xfrm>
          <a:prstGeom prst="rect">
            <a:avLst/>
          </a:prstGeom>
        </p:spPr>
        <p:txBody>
          <a:bodyPr lIns="0" tIns="0" rIns="0" bIns="0" rtlCol="0" anchor="t">
            <a:spAutoFit/>
          </a:bodyPr>
          <a:lstStyle/>
          <a:p>
            <a:pPr algn="ctr">
              <a:lnSpc>
                <a:spcPts val="5600"/>
              </a:lnSpc>
            </a:pPr>
            <a:r>
              <a:rPr lang="en-US" sz="4000" b="1">
                <a:solidFill>
                  <a:srgbClr val="104772"/>
                </a:solidFill>
                <a:latin typeface="Canva Sans Bold"/>
                <a:ea typeface="Canva Sans Bold"/>
                <a:cs typeface="Canva Sans Bold"/>
                <a:sym typeface="Canva Sans Bold"/>
              </a:rPr>
              <a:t>Windows 10, 11 </a:t>
            </a:r>
          </a:p>
        </p:txBody>
      </p:sp>
      <p:sp>
        <p:nvSpPr>
          <p:cNvPr id="38" name="TextBox 38"/>
          <p:cNvSpPr txBox="1"/>
          <p:nvPr/>
        </p:nvSpPr>
        <p:spPr>
          <a:xfrm>
            <a:off x="4018675" y="5406854"/>
            <a:ext cx="5314740" cy="718145"/>
          </a:xfrm>
          <a:prstGeom prst="rect">
            <a:avLst/>
          </a:prstGeom>
        </p:spPr>
        <p:txBody>
          <a:bodyPr wrap="square" lIns="0" tIns="0" rIns="0" bIns="0" rtlCol="0" anchor="t">
            <a:spAutoFit/>
          </a:bodyPr>
          <a:lstStyle/>
          <a:p>
            <a:pPr algn="ctr">
              <a:lnSpc>
                <a:spcPts val="5600"/>
              </a:lnSpc>
            </a:pPr>
            <a:r>
              <a:rPr lang="en-US" sz="4000" b="1" dirty="0">
                <a:solidFill>
                  <a:srgbClr val="104772"/>
                </a:solidFill>
                <a:latin typeface="Canva Sans Bold"/>
                <a:ea typeface="Canva Sans Bold"/>
                <a:cs typeface="Canva Sans Bold"/>
                <a:sym typeface="Canva Sans Bold"/>
              </a:rPr>
              <a:t>Operating System</a:t>
            </a:r>
          </a:p>
        </p:txBody>
      </p:sp>
      <p:sp>
        <p:nvSpPr>
          <p:cNvPr id="39" name="TextBox 39"/>
          <p:cNvSpPr txBox="1"/>
          <p:nvPr/>
        </p:nvSpPr>
        <p:spPr>
          <a:xfrm>
            <a:off x="10615329" y="7163976"/>
            <a:ext cx="2535585" cy="563879"/>
          </a:xfrm>
          <a:prstGeom prst="rect">
            <a:avLst/>
          </a:prstGeom>
        </p:spPr>
        <p:txBody>
          <a:bodyPr lIns="0" tIns="0" rIns="0" bIns="0" rtlCol="0" anchor="t">
            <a:spAutoFit/>
          </a:bodyPr>
          <a:lstStyle/>
          <a:p>
            <a:pPr algn="ctr">
              <a:lnSpc>
                <a:spcPts val="4620"/>
              </a:lnSpc>
            </a:pPr>
            <a:r>
              <a:rPr lang="en-US" sz="3300" b="1" dirty="0">
                <a:solidFill>
                  <a:srgbClr val="104772"/>
                </a:solidFill>
                <a:latin typeface="Canva Sans Bold"/>
                <a:ea typeface="Canva Sans Bold"/>
                <a:cs typeface="Canva Sans Bold"/>
                <a:sym typeface="Canva Sans Bold"/>
              </a:rPr>
              <a:t>(HTML, CSS)</a:t>
            </a:r>
          </a:p>
        </p:txBody>
      </p:sp>
      <p:sp>
        <p:nvSpPr>
          <p:cNvPr id="40" name="TextBox 40"/>
          <p:cNvSpPr txBox="1"/>
          <p:nvPr/>
        </p:nvSpPr>
        <p:spPr>
          <a:xfrm>
            <a:off x="10947668" y="6595652"/>
            <a:ext cx="1813754" cy="628377"/>
          </a:xfrm>
          <a:prstGeom prst="rect">
            <a:avLst/>
          </a:prstGeom>
        </p:spPr>
        <p:txBody>
          <a:bodyPr wrap="square" lIns="0" tIns="0" rIns="0" bIns="0" rtlCol="0" anchor="t">
            <a:spAutoFit/>
          </a:bodyPr>
          <a:lstStyle/>
          <a:p>
            <a:pPr algn="ctr">
              <a:lnSpc>
                <a:spcPts val="4900"/>
              </a:lnSpc>
            </a:pPr>
            <a:r>
              <a:rPr lang="en-US" sz="3500" b="1" dirty="0" err="1">
                <a:solidFill>
                  <a:srgbClr val="104772"/>
                </a:solidFill>
                <a:latin typeface="Canva Sans Bold"/>
                <a:ea typeface="Canva Sans Bold"/>
                <a:cs typeface="Canva Sans Bold"/>
                <a:sym typeface="Canva Sans Bold"/>
              </a:rPr>
              <a:t>Vscode</a:t>
            </a:r>
            <a:endParaRPr lang="en-US" sz="3500" b="1" dirty="0">
              <a:solidFill>
                <a:srgbClr val="104772"/>
              </a:solidFill>
              <a:latin typeface="Canva Sans Bold"/>
              <a:ea typeface="Canva Sans Bold"/>
              <a:cs typeface="Canva Sans Bold"/>
              <a:sym typeface="Canva Sans Bold"/>
            </a:endParaRPr>
          </a:p>
        </p:txBody>
      </p:sp>
      <p:sp>
        <p:nvSpPr>
          <p:cNvPr id="41" name="TextBox 41"/>
          <p:cNvSpPr txBox="1"/>
          <p:nvPr/>
        </p:nvSpPr>
        <p:spPr>
          <a:xfrm>
            <a:off x="5453063" y="8306009"/>
            <a:ext cx="2279749" cy="688974"/>
          </a:xfrm>
          <a:prstGeom prst="rect">
            <a:avLst/>
          </a:prstGeom>
        </p:spPr>
        <p:txBody>
          <a:bodyPr lIns="0" tIns="0" rIns="0" bIns="0" rtlCol="0" anchor="t">
            <a:spAutoFit/>
          </a:bodyPr>
          <a:lstStyle/>
          <a:p>
            <a:pPr algn="ctr">
              <a:lnSpc>
                <a:spcPts val="5600"/>
              </a:lnSpc>
            </a:pPr>
            <a:r>
              <a:rPr lang="en-US" sz="4000" b="1">
                <a:solidFill>
                  <a:srgbClr val="104772"/>
                </a:solidFill>
                <a:latin typeface="Canva Sans Bold"/>
                <a:ea typeface="Canva Sans Bold"/>
                <a:cs typeface="Canva Sans Bold"/>
                <a:sym typeface="Canva Sans Bold"/>
              </a:rPr>
              <a:t>Back End</a:t>
            </a:r>
          </a:p>
        </p:txBody>
      </p:sp>
      <p:sp>
        <p:nvSpPr>
          <p:cNvPr id="42" name="TextBox 42"/>
          <p:cNvSpPr txBox="1"/>
          <p:nvPr/>
        </p:nvSpPr>
        <p:spPr>
          <a:xfrm>
            <a:off x="10411515" y="8641607"/>
            <a:ext cx="2922078" cy="589905"/>
          </a:xfrm>
          <a:prstGeom prst="rect">
            <a:avLst/>
          </a:prstGeom>
        </p:spPr>
        <p:txBody>
          <a:bodyPr wrap="square" lIns="0" tIns="0" rIns="0" bIns="0" rtlCol="0" anchor="t">
            <a:spAutoFit/>
          </a:bodyPr>
          <a:lstStyle/>
          <a:p>
            <a:pPr algn="ctr">
              <a:lnSpc>
                <a:spcPts val="4620"/>
              </a:lnSpc>
            </a:pPr>
            <a:r>
              <a:rPr lang="en-US" sz="3300" b="1" dirty="0">
                <a:solidFill>
                  <a:srgbClr val="104772"/>
                </a:solidFill>
                <a:latin typeface="Canva Sans Bold"/>
                <a:ea typeface="Canva Sans Bold"/>
                <a:cs typeface="Canva Sans Bold"/>
                <a:sym typeface="Canva Sans Bold"/>
              </a:rPr>
              <a:t>(JavaScript)</a:t>
            </a:r>
          </a:p>
        </p:txBody>
      </p:sp>
      <p:sp>
        <p:nvSpPr>
          <p:cNvPr id="43" name="TextBox 43"/>
          <p:cNvSpPr txBox="1"/>
          <p:nvPr/>
        </p:nvSpPr>
        <p:spPr>
          <a:xfrm>
            <a:off x="9654053" y="8081855"/>
            <a:ext cx="4400983" cy="589905"/>
          </a:xfrm>
          <a:prstGeom prst="rect">
            <a:avLst/>
          </a:prstGeom>
        </p:spPr>
        <p:txBody>
          <a:bodyPr wrap="square" lIns="0" tIns="0" rIns="0" bIns="0" rtlCol="0" anchor="t">
            <a:spAutoFit/>
          </a:bodyPr>
          <a:lstStyle/>
          <a:p>
            <a:pPr algn="ctr">
              <a:lnSpc>
                <a:spcPts val="4620"/>
              </a:lnSpc>
            </a:pPr>
            <a:r>
              <a:rPr lang="en-US" sz="3300" b="1" dirty="0">
                <a:solidFill>
                  <a:srgbClr val="104772"/>
                </a:solidFill>
                <a:latin typeface="Canva Sans Bold"/>
                <a:ea typeface="Canva Sans Bold"/>
                <a:cs typeface="Canva Sans Bold"/>
                <a:sym typeface="Canva Sans Bold"/>
              </a:rPr>
              <a:t>Google Apps Script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482422"/>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grpSp>
        <p:nvGrpSpPr>
          <p:cNvPr id="3" name="Group 3"/>
          <p:cNvGrpSpPr/>
          <p:nvPr/>
        </p:nvGrpSpPr>
        <p:grpSpPr>
          <a:xfrm>
            <a:off x="8173535" y="2577120"/>
            <a:ext cx="1705159" cy="170515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00000"/>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792935" y="3747774"/>
            <a:ext cx="3086100" cy="930484"/>
            <a:chOff x="0" y="0"/>
            <a:chExt cx="812800" cy="245066"/>
          </a:xfrm>
        </p:grpSpPr>
        <p:sp>
          <p:nvSpPr>
            <p:cNvPr id="7" name="Freeform 7"/>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8" name="TextBox 8"/>
            <p:cNvSpPr txBox="1"/>
            <p:nvPr/>
          </p:nvSpPr>
          <p:spPr>
            <a:xfrm>
              <a:off x="0" y="-38100"/>
              <a:ext cx="812800" cy="283166"/>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3049784" y="3687324"/>
            <a:ext cx="3086100" cy="930484"/>
            <a:chOff x="0" y="0"/>
            <a:chExt cx="812800" cy="245066"/>
          </a:xfrm>
        </p:grpSpPr>
        <p:sp>
          <p:nvSpPr>
            <p:cNvPr id="10" name="Freeform 10"/>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11" name="TextBox 11"/>
            <p:cNvSpPr txBox="1"/>
            <p:nvPr/>
          </p:nvSpPr>
          <p:spPr>
            <a:xfrm>
              <a:off x="0" y="-38100"/>
              <a:ext cx="812800" cy="2831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2792935" y="5143500"/>
            <a:ext cx="3086100" cy="930484"/>
            <a:chOff x="0" y="0"/>
            <a:chExt cx="812800" cy="245066"/>
          </a:xfrm>
        </p:grpSpPr>
        <p:sp>
          <p:nvSpPr>
            <p:cNvPr id="13" name="Freeform 13"/>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14" name="TextBox 14"/>
            <p:cNvSpPr txBox="1"/>
            <p:nvPr/>
          </p:nvSpPr>
          <p:spPr>
            <a:xfrm>
              <a:off x="0" y="-38100"/>
              <a:ext cx="812800" cy="2831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2792935" y="6540709"/>
            <a:ext cx="3086100" cy="930484"/>
            <a:chOff x="0" y="0"/>
            <a:chExt cx="812800" cy="245066"/>
          </a:xfrm>
        </p:grpSpPr>
        <p:sp>
          <p:nvSpPr>
            <p:cNvPr id="16" name="Freeform 16"/>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17" name="TextBox 17"/>
            <p:cNvSpPr txBox="1"/>
            <p:nvPr/>
          </p:nvSpPr>
          <p:spPr>
            <a:xfrm>
              <a:off x="0" y="-38100"/>
              <a:ext cx="812800" cy="283166"/>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2792935" y="7937918"/>
            <a:ext cx="3086100" cy="930484"/>
            <a:chOff x="0" y="0"/>
            <a:chExt cx="812800" cy="245066"/>
          </a:xfrm>
        </p:grpSpPr>
        <p:sp>
          <p:nvSpPr>
            <p:cNvPr id="19" name="Freeform 19"/>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20" name="TextBox 20"/>
            <p:cNvSpPr txBox="1"/>
            <p:nvPr/>
          </p:nvSpPr>
          <p:spPr>
            <a:xfrm>
              <a:off x="0" y="-38100"/>
              <a:ext cx="812800" cy="2831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8289778" y="8033168"/>
            <a:ext cx="1705159" cy="170515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00000"/>
              </a:solid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3049784" y="5143500"/>
            <a:ext cx="3086100" cy="930484"/>
            <a:chOff x="0" y="0"/>
            <a:chExt cx="812800" cy="245066"/>
          </a:xfrm>
        </p:grpSpPr>
        <p:sp>
          <p:nvSpPr>
            <p:cNvPr id="25" name="Freeform 25"/>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26" name="TextBox 26"/>
            <p:cNvSpPr txBox="1"/>
            <p:nvPr/>
          </p:nvSpPr>
          <p:spPr>
            <a:xfrm>
              <a:off x="0" y="-38100"/>
              <a:ext cx="812800" cy="2831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7" name="Group 27"/>
          <p:cNvGrpSpPr/>
          <p:nvPr/>
        </p:nvGrpSpPr>
        <p:grpSpPr>
          <a:xfrm>
            <a:off x="13049784" y="6540709"/>
            <a:ext cx="3086100" cy="930484"/>
            <a:chOff x="0" y="0"/>
            <a:chExt cx="812800" cy="245066"/>
          </a:xfrm>
        </p:grpSpPr>
        <p:sp>
          <p:nvSpPr>
            <p:cNvPr id="28" name="Freeform 28"/>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29" name="TextBox 29"/>
            <p:cNvSpPr txBox="1"/>
            <p:nvPr/>
          </p:nvSpPr>
          <p:spPr>
            <a:xfrm>
              <a:off x="0" y="-38100"/>
              <a:ext cx="812800" cy="28316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0" name="Group 30"/>
          <p:cNvGrpSpPr/>
          <p:nvPr/>
        </p:nvGrpSpPr>
        <p:grpSpPr>
          <a:xfrm>
            <a:off x="13049784" y="7937918"/>
            <a:ext cx="3086100" cy="930484"/>
            <a:chOff x="0" y="0"/>
            <a:chExt cx="812800" cy="245066"/>
          </a:xfrm>
        </p:grpSpPr>
        <p:sp>
          <p:nvSpPr>
            <p:cNvPr id="31" name="Freeform 31"/>
            <p:cNvSpPr/>
            <p:nvPr/>
          </p:nvSpPr>
          <p:spPr>
            <a:xfrm>
              <a:off x="0" y="0"/>
              <a:ext cx="812800" cy="245066"/>
            </a:xfrm>
            <a:custGeom>
              <a:avLst/>
              <a:gdLst/>
              <a:ahLst/>
              <a:cxnLst/>
              <a:rect l="l" t="t" r="r" b="b"/>
              <a:pathLst>
                <a:path w="812800" h="245066">
                  <a:moveTo>
                    <a:pt x="0" y="0"/>
                  </a:moveTo>
                  <a:lnTo>
                    <a:pt x="812800" y="0"/>
                  </a:lnTo>
                  <a:lnTo>
                    <a:pt x="812800" y="245066"/>
                  </a:lnTo>
                  <a:lnTo>
                    <a:pt x="0" y="245066"/>
                  </a:lnTo>
                  <a:close/>
                </a:path>
              </a:pathLst>
            </a:custGeom>
            <a:solidFill>
              <a:srgbClr val="000000">
                <a:alpha val="0"/>
              </a:srgbClr>
            </a:solidFill>
            <a:ln w="38100" cap="sq">
              <a:solidFill>
                <a:srgbClr val="000000"/>
              </a:solidFill>
              <a:prstDash val="solid"/>
              <a:miter/>
            </a:ln>
          </p:spPr>
        </p:sp>
        <p:sp>
          <p:nvSpPr>
            <p:cNvPr id="32" name="TextBox 32"/>
            <p:cNvSpPr txBox="1"/>
            <p:nvPr/>
          </p:nvSpPr>
          <p:spPr>
            <a:xfrm>
              <a:off x="0" y="-38100"/>
              <a:ext cx="812800" cy="28316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3" name="TextBox 33"/>
          <p:cNvSpPr txBox="1"/>
          <p:nvPr/>
        </p:nvSpPr>
        <p:spPr>
          <a:xfrm>
            <a:off x="1028700" y="1620146"/>
            <a:ext cx="5671488" cy="860044"/>
          </a:xfrm>
          <a:prstGeom prst="rect">
            <a:avLst/>
          </a:prstGeom>
        </p:spPr>
        <p:txBody>
          <a:bodyPr lIns="0" tIns="0" rIns="0" bIns="0" rtlCol="0" anchor="t">
            <a:spAutoFit/>
          </a:bodyPr>
          <a:lstStyle/>
          <a:p>
            <a:pPr algn="l">
              <a:lnSpc>
                <a:spcPts val="6248"/>
              </a:lnSpc>
            </a:pPr>
            <a:r>
              <a:rPr lang="en-US" sz="7100">
                <a:solidFill>
                  <a:srgbClr val="104772"/>
                </a:solidFill>
                <a:latin typeface="Abril Fatface"/>
                <a:ea typeface="Abril Fatface"/>
                <a:cs typeface="Abril Fatface"/>
                <a:sym typeface="Abril Fatface"/>
              </a:rPr>
              <a:t>Work Flow</a:t>
            </a:r>
          </a:p>
        </p:txBody>
      </p:sp>
      <p:sp>
        <p:nvSpPr>
          <p:cNvPr id="34" name="TextBox 34"/>
          <p:cNvSpPr txBox="1"/>
          <p:nvPr/>
        </p:nvSpPr>
        <p:spPr>
          <a:xfrm>
            <a:off x="8215332" y="3172045"/>
            <a:ext cx="1663436" cy="500137"/>
          </a:xfrm>
          <a:prstGeom prst="rect">
            <a:avLst/>
          </a:prstGeom>
        </p:spPr>
        <p:txBody>
          <a:bodyPr wrap="square" lIns="0" tIns="0" rIns="0" bIns="0" rtlCol="0" anchor="t">
            <a:spAutoFit/>
          </a:bodyPr>
          <a:lstStyle/>
          <a:p>
            <a:pPr algn="ctr">
              <a:lnSpc>
                <a:spcPts val="3854"/>
              </a:lnSpc>
            </a:pPr>
            <a:r>
              <a:rPr lang="en-US" sz="2753" b="1" dirty="0" smtClean="0">
                <a:solidFill>
                  <a:srgbClr val="104772"/>
                </a:solidFill>
                <a:latin typeface="Canva Sans Bold"/>
                <a:ea typeface="Canva Sans Bold"/>
                <a:cs typeface="Canva Sans Bold"/>
                <a:sym typeface="Canva Sans Bold"/>
              </a:rPr>
              <a:t>START</a:t>
            </a:r>
            <a:endParaRPr lang="en-US" sz="2753" b="1" dirty="0">
              <a:solidFill>
                <a:srgbClr val="104772"/>
              </a:solidFill>
              <a:latin typeface="Canva Sans Bold"/>
              <a:ea typeface="Canva Sans Bold"/>
              <a:cs typeface="Canva Sans Bold"/>
              <a:sym typeface="Canva Sans Bold"/>
            </a:endParaRPr>
          </a:p>
        </p:txBody>
      </p:sp>
      <p:sp>
        <p:nvSpPr>
          <p:cNvPr id="35" name="TextBox 35"/>
          <p:cNvSpPr txBox="1"/>
          <p:nvPr/>
        </p:nvSpPr>
        <p:spPr>
          <a:xfrm>
            <a:off x="3248275" y="3956643"/>
            <a:ext cx="2106363" cy="500137"/>
          </a:xfrm>
          <a:prstGeom prst="rect">
            <a:avLst/>
          </a:prstGeom>
        </p:spPr>
        <p:txBody>
          <a:bodyPr wrap="square" lIns="0" tIns="0" rIns="0" bIns="0" rtlCol="0" anchor="t">
            <a:spAutoFit/>
          </a:bodyPr>
          <a:lstStyle/>
          <a:p>
            <a:pPr algn="ctr">
              <a:lnSpc>
                <a:spcPts val="3854"/>
              </a:lnSpc>
            </a:pPr>
            <a:r>
              <a:rPr lang="en-US" sz="2753" b="1" dirty="0" smtClean="0">
                <a:solidFill>
                  <a:srgbClr val="104772"/>
                </a:solidFill>
                <a:latin typeface="Canva Sans Bold"/>
                <a:ea typeface="Canva Sans Bold"/>
                <a:cs typeface="Canva Sans Bold"/>
                <a:sym typeface="Canva Sans Bold"/>
              </a:rPr>
              <a:t>DOCTOR</a:t>
            </a:r>
            <a:endParaRPr lang="en-US" sz="2753" b="1" dirty="0">
              <a:solidFill>
                <a:srgbClr val="104772"/>
              </a:solidFill>
              <a:latin typeface="Canva Sans Bold"/>
              <a:ea typeface="Canva Sans Bold"/>
              <a:cs typeface="Canva Sans Bold"/>
              <a:sym typeface="Canva Sans Bold"/>
            </a:endParaRPr>
          </a:p>
        </p:txBody>
      </p:sp>
      <p:sp>
        <p:nvSpPr>
          <p:cNvPr id="36" name="TextBox 36"/>
          <p:cNvSpPr txBox="1"/>
          <p:nvPr/>
        </p:nvSpPr>
        <p:spPr>
          <a:xfrm>
            <a:off x="2792935" y="5435617"/>
            <a:ext cx="3159604" cy="346249"/>
          </a:xfrm>
          <a:prstGeom prst="rect">
            <a:avLst/>
          </a:prstGeom>
        </p:spPr>
        <p:txBody>
          <a:bodyPr wrap="square" lIns="0" tIns="0" rIns="0" bIns="0" rtlCol="0" anchor="t">
            <a:spAutoFit/>
          </a:bodyPr>
          <a:lstStyle/>
          <a:p>
            <a:pPr algn="ctr">
              <a:lnSpc>
                <a:spcPts val="2660"/>
              </a:lnSpc>
            </a:pPr>
            <a:r>
              <a:rPr lang="en-US" sz="1900" b="1" dirty="0">
                <a:solidFill>
                  <a:srgbClr val="104772"/>
                </a:solidFill>
                <a:latin typeface="Canva Sans Bold"/>
                <a:ea typeface="Canva Sans Bold"/>
                <a:cs typeface="Canva Sans Bold"/>
                <a:sym typeface="Canva Sans Bold"/>
              </a:rPr>
              <a:t>DOCTOR </a:t>
            </a:r>
            <a:r>
              <a:rPr lang="en-US" sz="1900" b="1" dirty="0" smtClean="0">
                <a:solidFill>
                  <a:srgbClr val="104772"/>
                </a:solidFill>
                <a:latin typeface="Canva Sans Bold"/>
                <a:ea typeface="Canva Sans Bold"/>
                <a:cs typeface="Canva Sans Bold"/>
                <a:sym typeface="Canva Sans Bold"/>
              </a:rPr>
              <a:t>DASHBOARD</a:t>
            </a:r>
            <a:endParaRPr lang="en-US" sz="1900" b="1" dirty="0">
              <a:solidFill>
                <a:srgbClr val="104772"/>
              </a:solidFill>
              <a:latin typeface="Canva Sans Bold"/>
              <a:ea typeface="Canva Sans Bold"/>
              <a:cs typeface="Canva Sans Bold"/>
              <a:sym typeface="Canva Sans Bold"/>
            </a:endParaRPr>
          </a:p>
        </p:txBody>
      </p:sp>
      <p:sp>
        <p:nvSpPr>
          <p:cNvPr id="37" name="TextBox 37"/>
          <p:cNvSpPr txBox="1"/>
          <p:nvPr/>
        </p:nvSpPr>
        <p:spPr>
          <a:xfrm>
            <a:off x="3055133" y="6658606"/>
            <a:ext cx="2561704" cy="692497"/>
          </a:xfrm>
          <a:prstGeom prst="rect">
            <a:avLst/>
          </a:prstGeom>
        </p:spPr>
        <p:txBody>
          <a:bodyPr wrap="square" lIns="0" tIns="0" rIns="0" bIns="0" rtlCol="0" anchor="t">
            <a:spAutoFit/>
          </a:bodyPr>
          <a:lstStyle/>
          <a:p>
            <a:pPr algn="ctr">
              <a:lnSpc>
                <a:spcPts val="2660"/>
              </a:lnSpc>
            </a:pPr>
            <a:r>
              <a:rPr lang="en-US" sz="1900" b="1" dirty="0" smtClean="0">
                <a:solidFill>
                  <a:srgbClr val="104772"/>
                </a:solidFill>
                <a:latin typeface="Canva Sans Bold"/>
                <a:ea typeface="Canva Sans Bold"/>
                <a:cs typeface="Canva Sans Bold"/>
                <a:sym typeface="Canva Sans Bold"/>
              </a:rPr>
              <a:t>VIEW UPCOMING</a:t>
            </a:r>
            <a:endParaRPr lang="en-US" sz="1900" b="1" dirty="0">
              <a:solidFill>
                <a:srgbClr val="104772"/>
              </a:solidFill>
              <a:latin typeface="Canva Sans Bold"/>
              <a:ea typeface="Canva Sans Bold"/>
              <a:cs typeface="Canva Sans Bold"/>
              <a:sym typeface="Canva Sans Bold"/>
            </a:endParaRPr>
          </a:p>
          <a:p>
            <a:pPr algn="ctr">
              <a:lnSpc>
                <a:spcPts val="2660"/>
              </a:lnSpc>
            </a:pPr>
            <a:r>
              <a:rPr lang="en-US" sz="1900" b="1" dirty="0">
                <a:solidFill>
                  <a:srgbClr val="104772"/>
                </a:solidFill>
                <a:latin typeface="Canva Sans Bold"/>
                <a:ea typeface="Canva Sans Bold"/>
                <a:cs typeface="Canva Sans Bold"/>
                <a:sym typeface="Canva Sans Bold"/>
              </a:rPr>
              <a:t>APPOINTMENTS</a:t>
            </a:r>
          </a:p>
        </p:txBody>
      </p:sp>
      <p:sp>
        <p:nvSpPr>
          <p:cNvPr id="38" name="TextBox 38"/>
          <p:cNvSpPr txBox="1"/>
          <p:nvPr/>
        </p:nvSpPr>
        <p:spPr>
          <a:xfrm>
            <a:off x="3020605" y="8204618"/>
            <a:ext cx="2630760" cy="346249"/>
          </a:xfrm>
          <a:prstGeom prst="rect">
            <a:avLst/>
          </a:prstGeom>
        </p:spPr>
        <p:txBody>
          <a:bodyPr wrap="square" lIns="0" tIns="0" rIns="0" bIns="0" rtlCol="0" anchor="t">
            <a:spAutoFit/>
          </a:bodyPr>
          <a:lstStyle/>
          <a:p>
            <a:pPr algn="ctr">
              <a:lnSpc>
                <a:spcPts val="2660"/>
              </a:lnSpc>
            </a:pPr>
            <a:r>
              <a:rPr lang="en-US" sz="1900" b="1" dirty="0">
                <a:solidFill>
                  <a:srgbClr val="104772"/>
                </a:solidFill>
                <a:latin typeface="Canva Sans Bold"/>
                <a:ea typeface="Canva Sans Bold"/>
                <a:cs typeface="Canva Sans Bold"/>
                <a:sym typeface="Canva Sans Bold"/>
              </a:rPr>
              <a:t>PAYMENT </a:t>
            </a:r>
            <a:r>
              <a:rPr lang="en-US" sz="1900" b="1" dirty="0" smtClean="0">
                <a:solidFill>
                  <a:srgbClr val="104772"/>
                </a:solidFill>
                <a:latin typeface="Canva Sans Bold"/>
                <a:ea typeface="Canva Sans Bold"/>
                <a:cs typeface="Canva Sans Bold"/>
                <a:sym typeface="Canva Sans Bold"/>
              </a:rPr>
              <a:t>DETAILS</a:t>
            </a:r>
            <a:endParaRPr lang="en-US" sz="1900" b="1" dirty="0">
              <a:solidFill>
                <a:srgbClr val="104772"/>
              </a:solidFill>
              <a:latin typeface="Canva Sans Bold"/>
              <a:ea typeface="Canva Sans Bold"/>
              <a:cs typeface="Canva Sans Bold"/>
              <a:sym typeface="Canva Sans Bold"/>
            </a:endParaRPr>
          </a:p>
        </p:txBody>
      </p:sp>
      <p:sp>
        <p:nvSpPr>
          <p:cNvPr id="39" name="TextBox 39"/>
          <p:cNvSpPr txBox="1"/>
          <p:nvPr/>
        </p:nvSpPr>
        <p:spPr>
          <a:xfrm>
            <a:off x="13624676" y="3896193"/>
            <a:ext cx="1859048" cy="500137"/>
          </a:xfrm>
          <a:prstGeom prst="rect">
            <a:avLst/>
          </a:prstGeom>
        </p:spPr>
        <p:txBody>
          <a:bodyPr wrap="square" lIns="0" tIns="0" rIns="0" bIns="0" rtlCol="0" anchor="t">
            <a:spAutoFit/>
          </a:bodyPr>
          <a:lstStyle/>
          <a:p>
            <a:pPr algn="ctr">
              <a:lnSpc>
                <a:spcPts val="3854"/>
              </a:lnSpc>
            </a:pPr>
            <a:r>
              <a:rPr lang="en-US" sz="2753" b="1" dirty="0">
                <a:solidFill>
                  <a:srgbClr val="104772"/>
                </a:solidFill>
                <a:latin typeface="Canva Sans Bold"/>
                <a:ea typeface="Canva Sans Bold"/>
                <a:cs typeface="Canva Sans Bold"/>
                <a:sym typeface="Canva Sans Bold"/>
              </a:rPr>
              <a:t>PATIENTS</a:t>
            </a:r>
          </a:p>
        </p:txBody>
      </p:sp>
      <p:sp>
        <p:nvSpPr>
          <p:cNvPr id="40" name="TextBox 40"/>
          <p:cNvSpPr txBox="1"/>
          <p:nvPr/>
        </p:nvSpPr>
        <p:spPr>
          <a:xfrm>
            <a:off x="13262934" y="5439253"/>
            <a:ext cx="2592053" cy="346249"/>
          </a:xfrm>
          <a:prstGeom prst="rect">
            <a:avLst/>
          </a:prstGeom>
        </p:spPr>
        <p:txBody>
          <a:bodyPr wrap="square" lIns="0" tIns="0" rIns="0" bIns="0" rtlCol="0" anchor="t">
            <a:spAutoFit/>
          </a:bodyPr>
          <a:lstStyle/>
          <a:p>
            <a:pPr algn="ctr">
              <a:lnSpc>
                <a:spcPts val="2660"/>
              </a:lnSpc>
            </a:pPr>
            <a:r>
              <a:rPr lang="en-US" sz="1900" b="1" dirty="0">
                <a:solidFill>
                  <a:srgbClr val="104772"/>
                </a:solidFill>
                <a:latin typeface="Canva Sans Bold"/>
                <a:ea typeface="Canva Sans Bold"/>
                <a:cs typeface="Canva Sans Bold"/>
                <a:sym typeface="Canva Sans Bold"/>
              </a:rPr>
              <a:t>BOOKING PAGE</a:t>
            </a:r>
          </a:p>
        </p:txBody>
      </p:sp>
      <p:sp>
        <p:nvSpPr>
          <p:cNvPr id="41" name="TextBox 41"/>
          <p:cNvSpPr txBox="1"/>
          <p:nvPr/>
        </p:nvSpPr>
        <p:spPr>
          <a:xfrm>
            <a:off x="13566738" y="6658606"/>
            <a:ext cx="2052191" cy="656590"/>
          </a:xfrm>
          <a:prstGeom prst="rect">
            <a:avLst/>
          </a:prstGeom>
        </p:spPr>
        <p:txBody>
          <a:bodyPr lIns="0" tIns="0" rIns="0" bIns="0" rtlCol="0" anchor="t">
            <a:spAutoFit/>
          </a:bodyPr>
          <a:lstStyle/>
          <a:p>
            <a:pPr algn="ctr">
              <a:lnSpc>
                <a:spcPts val="2660"/>
              </a:lnSpc>
            </a:pPr>
            <a:r>
              <a:rPr lang="en-US" sz="1900" b="1">
                <a:solidFill>
                  <a:srgbClr val="104772"/>
                </a:solidFill>
                <a:latin typeface="Canva Sans Bold"/>
                <a:ea typeface="Canva Sans Bold"/>
                <a:cs typeface="Canva Sans Bold"/>
                <a:sym typeface="Canva Sans Bold"/>
              </a:rPr>
              <a:t>VIEW AVAILABLE </a:t>
            </a:r>
          </a:p>
          <a:p>
            <a:pPr algn="ctr">
              <a:lnSpc>
                <a:spcPts val="2660"/>
              </a:lnSpc>
            </a:pPr>
            <a:r>
              <a:rPr lang="en-US" sz="1900" b="1">
                <a:solidFill>
                  <a:srgbClr val="104772"/>
                </a:solidFill>
                <a:latin typeface="Canva Sans Bold"/>
                <a:ea typeface="Canva Sans Bold"/>
                <a:cs typeface="Canva Sans Bold"/>
                <a:sym typeface="Canva Sans Bold"/>
              </a:rPr>
              <a:t>TIME SLOTS</a:t>
            </a:r>
          </a:p>
        </p:txBody>
      </p:sp>
      <p:sp>
        <p:nvSpPr>
          <p:cNvPr id="42" name="TextBox 42"/>
          <p:cNvSpPr txBox="1"/>
          <p:nvPr/>
        </p:nvSpPr>
        <p:spPr>
          <a:xfrm>
            <a:off x="13321395" y="8214143"/>
            <a:ext cx="2542877" cy="323215"/>
          </a:xfrm>
          <a:prstGeom prst="rect">
            <a:avLst/>
          </a:prstGeom>
        </p:spPr>
        <p:txBody>
          <a:bodyPr lIns="0" tIns="0" rIns="0" bIns="0" rtlCol="0" anchor="t">
            <a:spAutoFit/>
          </a:bodyPr>
          <a:lstStyle/>
          <a:p>
            <a:pPr algn="ctr">
              <a:lnSpc>
                <a:spcPts val="2660"/>
              </a:lnSpc>
            </a:pPr>
            <a:r>
              <a:rPr lang="en-US" sz="1900" b="1">
                <a:solidFill>
                  <a:srgbClr val="104772"/>
                </a:solidFill>
                <a:latin typeface="Canva Sans Bold"/>
                <a:ea typeface="Canva Sans Bold"/>
                <a:cs typeface="Canva Sans Bold"/>
                <a:sym typeface="Canva Sans Bold"/>
              </a:rPr>
              <a:t>BOOK APPOINTMENT</a:t>
            </a:r>
          </a:p>
        </p:txBody>
      </p:sp>
      <p:sp>
        <p:nvSpPr>
          <p:cNvPr id="43" name="TextBox 43"/>
          <p:cNvSpPr txBox="1"/>
          <p:nvPr/>
        </p:nvSpPr>
        <p:spPr>
          <a:xfrm>
            <a:off x="8764808" y="8608931"/>
            <a:ext cx="755100" cy="465120"/>
          </a:xfrm>
          <a:prstGeom prst="rect">
            <a:avLst/>
          </a:prstGeom>
        </p:spPr>
        <p:txBody>
          <a:bodyPr lIns="0" tIns="0" rIns="0" bIns="0" rtlCol="0" anchor="t">
            <a:spAutoFit/>
          </a:bodyPr>
          <a:lstStyle/>
          <a:p>
            <a:pPr algn="ctr">
              <a:lnSpc>
                <a:spcPts val="3854"/>
              </a:lnSpc>
            </a:pPr>
            <a:r>
              <a:rPr lang="en-US" sz="2753" b="1">
                <a:solidFill>
                  <a:srgbClr val="104772"/>
                </a:solidFill>
                <a:latin typeface="Canva Sans Bold"/>
                <a:ea typeface="Canva Sans Bold"/>
                <a:cs typeface="Canva Sans Bold"/>
                <a:sym typeface="Canva Sans Bold"/>
              </a:rPr>
              <a:t>END</a:t>
            </a:r>
          </a:p>
        </p:txBody>
      </p:sp>
      <p:sp>
        <p:nvSpPr>
          <p:cNvPr id="44" name="AutoShape 44"/>
          <p:cNvSpPr/>
          <p:nvPr/>
        </p:nvSpPr>
        <p:spPr>
          <a:xfrm flipV="1">
            <a:off x="4228731" y="3165286"/>
            <a:ext cx="3986600" cy="2565"/>
          </a:xfrm>
          <a:prstGeom prst="line">
            <a:avLst/>
          </a:prstGeom>
          <a:ln w="38100" cap="flat">
            <a:solidFill>
              <a:srgbClr val="000000"/>
            </a:solidFill>
            <a:prstDash val="solid"/>
            <a:headEnd type="none" w="sm" len="sm"/>
            <a:tailEnd type="none" w="sm" len="sm"/>
          </a:ln>
        </p:spPr>
      </p:sp>
      <p:sp>
        <p:nvSpPr>
          <p:cNvPr id="45" name="AutoShape 45"/>
          <p:cNvSpPr/>
          <p:nvPr/>
        </p:nvSpPr>
        <p:spPr>
          <a:xfrm>
            <a:off x="9840818" y="3201549"/>
            <a:ext cx="4752016" cy="18121"/>
          </a:xfrm>
          <a:prstGeom prst="line">
            <a:avLst/>
          </a:prstGeom>
          <a:ln w="38100" cap="flat">
            <a:solidFill>
              <a:srgbClr val="000000"/>
            </a:solidFill>
            <a:prstDash val="solid"/>
            <a:headEnd type="none" w="sm" len="sm"/>
            <a:tailEnd type="none" w="sm" len="sm"/>
          </a:ln>
        </p:spPr>
      </p:sp>
      <p:sp>
        <p:nvSpPr>
          <p:cNvPr id="46" name="AutoShape 46"/>
          <p:cNvSpPr/>
          <p:nvPr/>
        </p:nvSpPr>
        <p:spPr>
          <a:xfrm flipV="1">
            <a:off x="4290149" y="9354178"/>
            <a:ext cx="4126797" cy="11749"/>
          </a:xfrm>
          <a:prstGeom prst="line">
            <a:avLst/>
          </a:prstGeom>
          <a:ln w="38100" cap="flat">
            <a:solidFill>
              <a:srgbClr val="000000"/>
            </a:solidFill>
            <a:prstDash val="solid"/>
            <a:headEnd type="none" w="sm" len="sm"/>
            <a:tailEnd type="none" w="sm" len="sm"/>
          </a:ln>
        </p:spPr>
      </p:sp>
      <p:sp>
        <p:nvSpPr>
          <p:cNvPr id="47" name="AutoShape 47"/>
          <p:cNvSpPr/>
          <p:nvPr/>
        </p:nvSpPr>
        <p:spPr>
          <a:xfrm>
            <a:off x="9878767" y="9319571"/>
            <a:ext cx="4752016" cy="18121"/>
          </a:xfrm>
          <a:prstGeom prst="line">
            <a:avLst/>
          </a:prstGeom>
          <a:ln w="38100" cap="flat">
            <a:solidFill>
              <a:srgbClr val="000000"/>
            </a:solidFill>
            <a:prstDash val="solid"/>
            <a:headEnd type="none" w="sm" len="sm"/>
            <a:tailEnd type="none" w="sm" len="sm"/>
          </a:ln>
        </p:spPr>
      </p:sp>
      <p:sp>
        <p:nvSpPr>
          <p:cNvPr id="48" name="AutoShape 48"/>
          <p:cNvSpPr/>
          <p:nvPr/>
        </p:nvSpPr>
        <p:spPr>
          <a:xfrm flipH="1" flipV="1">
            <a:off x="4209687" y="3159131"/>
            <a:ext cx="19043" cy="536569"/>
          </a:xfrm>
          <a:prstGeom prst="line">
            <a:avLst/>
          </a:prstGeom>
          <a:ln w="38100" cap="flat">
            <a:solidFill>
              <a:srgbClr val="000000"/>
            </a:solidFill>
            <a:prstDash val="solid"/>
            <a:headEnd type="none" w="sm" len="sm"/>
            <a:tailEnd type="none" w="sm" len="sm"/>
          </a:ln>
        </p:spPr>
      </p:sp>
      <p:sp>
        <p:nvSpPr>
          <p:cNvPr id="49" name="AutoShape 49"/>
          <p:cNvSpPr/>
          <p:nvPr/>
        </p:nvSpPr>
        <p:spPr>
          <a:xfrm flipH="1" flipV="1">
            <a:off x="14554200" y="3162300"/>
            <a:ext cx="9522" cy="532735"/>
          </a:xfrm>
          <a:prstGeom prst="line">
            <a:avLst/>
          </a:prstGeom>
          <a:ln w="38100" cap="flat">
            <a:solidFill>
              <a:srgbClr val="000000"/>
            </a:solidFill>
            <a:prstDash val="solid"/>
            <a:headEnd type="none" w="sm" len="sm"/>
            <a:tailEnd type="none" w="sm" len="sm"/>
          </a:ln>
        </p:spPr>
      </p:sp>
      <p:sp>
        <p:nvSpPr>
          <p:cNvPr id="50" name="AutoShape 50"/>
          <p:cNvSpPr/>
          <p:nvPr/>
        </p:nvSpPr>
        <p:spPr>
          <a:xfrm flipH="1" flipV="1">
            <a:off x="4252004" y="4686965"/>
            <a:ext cx="9522" cy="456194"/>
          </a:xfrm>
          <a:prstGeom prst="line">
            <a:avLst/>
          </a:prstGeom>
          <a:ln w="38100" cap="flat">
            <a:solidFill>
              <a:srgbClr val="000000"/>
            </a:solidFill>
            <a:prstDash val="solid"/>
            <a:headEnd type="none" w="sm" len="sm"/>
            <a:tailEnd type="none" w="sm" len="sm"/>
          </a:ln>
        </p:spPr>
      </p:sp>
      <p:sp>
        <p:nvSpPr>
          <p:cNvPr id="51" name="AutoShape 51"/>
          <p:cNvSpPr/>
          <p:nvPr/>
        </p:nvSpPr>
        <p:spPr>
          <a:xfrm flipH="1" flipV="1">
            <a:off x="4252005" y="6073982"/>
            <a:ext cx="28568" cy="485435"/>
          </a:xfrm>
          <a:prstGeom prst="line">
            <a:avLst/>
          </a:prstGeom>
          <a:ln w="38100" cap="flat">
            <a:solidFill>
              <a:srgbClr val="000000"/>
            </a:solidFill>
            <a:prstDash val="solid"/>
            <a:headEnd type="none" w="sm" len="sm"/>
            <a:tailEnd type="none" w="sm" len="sm"/>
          </a:ln>
        </p:spPr>
      </p:sp>
      <p:sp>
        <p:nvSpPr>
          <p:cNvPr id="52" name="AutoShape 52"/>
          <p:cNvSpPr/>
          <p:nvPr/>
        </p:nvSpPr>
        <p:spPr>
          <a:xfrm flipH="1" flipV="1">
            <a:off x="4252005" y="7448545"/>
            <a:ext cx="28568" cy="489367"/>
          </a:xfrm>
          <a:prstGeom prst="line">
            <a:avLst/>
          </a:prstGeom>
          <a:ln w="38100" cap="flat">
            <a:solidFill>
              <a:srgbClr val="000000"/>
            </a:solidFill>
            <a:prstDash val="solid"/>
            <a:headEnd type="none" w="sm" len="sm"/>
            <a:tailEnd type="none" w="sm" len="sm"/>
          </a:ln>
        </p:spPr>
      </p:sp>
      <p:sp>
        <p:nvSpPr>
          <p:cNvPr id="53" name="AutoShape 53"/>
          <p:cNvSpPr/>
          <p:nvPr/>
        </p:nvSpPr>
        <p:spPr>
          <a:xfrm flipH="1" flipV="1">
            <a:off x="4299620" y="8833192"/>
            <a:ext cx="9522" cy="532735"/>
          </a:xfrm>
          <a:prstGeom prst="line">
            <a:avLst/>
          </a:prstGeom>
          <a:ln w="38100" cap="flat">
            <a:solidFill>
              <a:srgbClr val="000000"/>
            </a:solidFill>
            <a:prstDash val="solid"/>
            <a:headEnd type="none" w="sm" len="sm"/>
            <a:tailEnd type="none" w="sm" len="sm"/>
          </a:ln>
        </p:spPr>
      </p:sp>
      <p:sp>
        <p:nvSpPr>
          <p:cNvPr id="54" name="AutoShape 54"/>
          <p:cNvSpPr/>
          <p:nvPr/>
        </p:nvSpPr>
        <p:spPr>
          <a:xfrm flipH="1" flipV="1">
            <a:off x="14649829" y="4610424"/>
            <a:ext cx="9522" cy="532735"/>
          </a:xfrm>
          <a:prstGeom prst="line">
            <a:avLst/>
          </a:prstGeom>
          <a:ln w="38100" cap="flat">
            <a:solidFill>
              <a:srgbClr val="000000"/>
            </a:solidFill>
            <a:prstDash val="solid"/>
            <a:headEnd type="none" w="sm" len="sm"/>
            <a:tailEnd type="none" w="sm" len="sm"/>
          </a:ln>
        </p:spPr>
      </p:sp>
      <p:sp>
        <p:nvSpPr>
          <p:cNvPr id="55" name="AutoShape 55"/>
          <p:cNvSpPr/>
          <p:nvPr/>
        </p:nvSpPr>
        <p:spPr>
          <a:xfrm flipH="1" flipV="1">
            <a:off x="14645069" y="6058565"/>
            <a:ext cx="14282" cy="482144"/>
          </a:xfrm>
          <a:prstGeom prst="line">
            <a:avLst/>
          </a:prstGeom>
          <a:ln w="38100" cap="flat">
            <a:solidFill>
              <a:srgbClr val="000000"/>
            </a:solidFill>
            <a:prstDash val="solid"/>
            <a:headEnd type="none" w="sm" len="sm"/>
            <a:tailEnd type="none" w="sm" len="sm"/>
          </a:ln>
        </p:spPr>
      </p:sp>
      <p:sp>
        <p:nvSpPr>
          <p:cNvPr id="56" name="AutoShape 56"/>
          <p:cNvSpPr/>
          <p:nvPr/>
        </p:nvSpPr>
        <p:spPr>
          <a:xfrm flipV="1">
            <a:off x="14630783" y="7471194"/>
            <a:ext cx="28568" cy="491706"/>
          </a:xfrm>
          <a:prstGeom prst="line">
            <a:avLst/>
          </a:prstGeom>
          <a:ln w="38100" cap="flat">
            <a:solidFill>
              <a:srgbClr val="000000"/>
            </a:solidFill>
            <a:prstDash val="solid"/>
            <a:headEnd type="none" w="sm" len="sm"/>
            <a:tailEnd type="none" w="sm" len="sm"/>
          </a:ln>
        </p:spPr>
      </p:sp>
      <p:sp>
        <p:nvSpPr>
          <p:cNvPr id="57" name="AutoShape 57"/>
          <p:cNvSpPr/>
          <p:nvPr/>
        </p:nvSpPr>
        <p:spPr>
          <a:xfrm flipV="1">
            <a:off x="14640449" y="8885746"/>
            <a:ext cx="9379" cy="468090"/>
          </a:xfrm>
          <a:prstGeom prst="line">
            <a:avLst/>
          </a:prstGeom>
          <a:ln w="38100" cap="flat">
            <a:solidFill>
              <a:srgbClr val="000000"/>
            </a:solidFill>
            <a:prstDash val="solid"/>
            <a:headEnd type="none" w="sm" len="sm"/>
            <a:tailEnd type="none" w="sm" len="sm"/>
          </a:ln>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Freeform 3"/>
          <p:cNvSpPr/>
          <p:nvPr/>
        </p:nvSpPr>
        <p:spPr>
          <a:xfrm>
            <a:off x="2794825" y="3138549"/>
            <a:ext cx="12698350" cy="5995926"/>
          </a:xfrm>
          <a:custGeom>
            <a:avLst/>
            <a:gdLst/>
            <a:ahLst/>
            <a:cxnLst/>
            <a:rect l="l" t="t" r="r" b="b"/>
            <a:pathLst>
              <a:path w="12698350" h="5995926">
                <a:moveTo>
                  <a:pt x="0" y="0"/>
                </a:moveTo>
                <a:lnTo>
                  <a:pt x="12698350" y="0"/>
                </a:lnTo>
                <a:lnTo>
                  <a:pt x="12698350" y="5995926"/>
                </a:lnTo>
                <a:lnTo>
                  <a:pt x="0" y="5995926"/>
                </a:lnTo>
                <a:lnTo>
                  <a:pt x="0" y="0"/>
                </a:lnTo>
                <a:close/>
              </a:path>
            </a:pathLst>
          </a:custGeom>
          <a:blipFill>
            <a:blip r:embed="rId3"/>
            <a:stretch>
              <a:fillRect/>
            </a:stretch>
          </a:blipFill>
        </p:spPr>
      </p:sp>
      <p:sp>
        <p:nvSpPr>
          <p:cNvPr id="4" name="TextBox 4"/>
          <p:cNvSpPr txBox="1"/>
          <p:nvPr/>
        </p:nvSpPr>
        <p:spPr>
          <a:xfrm>
            <a:off x="1028700" y="1842103"/>
            <a:ext cx="4880978" cy="860044"/>
          </a:xfrm>
          <a:prstGeom prst="rect">
            <a:avLst/>
          </a:prstGeom>
        </p:spPr>
        <p:txBody>
          <a:bodyPr lIns="0" tIns="0" rIns="0" bIns="0" rtlCol="0" anchor="t">
            <a:spAutoFit/>
          </a:bodyPr>
          <a:lstStyle/>
          <a:p>
            <a:pPr algn="l">
              <a:lnSpc>
                <a:spcPts val="6248"/>
              </a:lnSpc>
            </a:pPr>
            <a:r>
              <a:rPr lang="en-US" sz="7100">
                <a:solidFill>
                  <a:srgbClr val="104772"/>
                </a:solidFill>
                <a:latin typeface="Abril Fatface"/>
                <a:ea typeface="Abril Fatface"/>
                <a:cs typeface="Abril Fatface"/>
                <a:sym typeface="Abril Fatface"/>
              </a:rPr>
              <a:t>Home Page: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Freeform 3"/>
          <p:cNvSpPr/>
          <p:nvPr/>
        </p:nvSpPr>
        <p:spPr>
          <a:xfrm>
            <a:off x="2794825" y="4271851"/>
            <a:ext cx="12698350" cy="3588260"/>
          </a:xfrm>
          <a:custGeom>
            <a:avLst/>
            <a:gdLst/>
            <a:ahLst/>
            <a:cxnLst/>
            <a:rect l="l" t="t" r="r" b="b"/>
            <a:pathLst>
              <a:path w="12698350" h="3588260">
                <a:moveTo>
                  <a:pt x="0" y="0"/>
                </a:moveTo>
                <a:lnTo>
                  <a:pt x="12698350" y="0"/>
                </a:lnTo>
                <a:lnTo>
                  <a:pt x="12698350" y="3588259"/>
                </a:lnTo>
                <a:lnTo>
                  <a:pt x="0" y="3588259"/>
                </a:lnTo>
                <a:lnTo>
                  <a:pt x="0" y="0"/>
                </a:lnTo>
                <a:close/>
              </a:path>
            </a:pathLst>
          </a:custGeom>
          <a:blipFill>
            <a:blip r:embed="rId3"/>
            <a:stretch>
              <a:fillRect/>
            </a:stretch>
          </a:blipFill>
        </p:spPr>
      </p:sp>
      <p:sp>
        <p:nvSpPr>
          <p:cNvPr id="4" name="TextBox 4"/>
          <p:cNvSpPr txBox="1"/>
          <p:nvPr/>
        </p:nvSpPr>
        <p:spPr>
          <a:xfrm>
            <a:off x="1028700" y="2020594"/>
            <a:ext cx="6052444" cy="860044"/>
          </a:xfrm>
          <a:prstGeom prst="rect">
            <a:avLst/>
          </a:prstGeom>
        </p:spPr>
        <p:txBody>
          <a:bodyPr lIns="0" tIns="0" rIns="0" bIns="0" rtlCol="0" anchor="t">
            <a:spAutoFit/>
          </a:bodyPr>
          <a:lstStyle/>
          <a:p>
            <a:pPr algn="l">
              <a:lnSpc>
                <a:spcPts val="6248"/>
              </a:lnSpc>
            </a:pPr>
            <a:r>
              <a:rPr lang="en-US" sz="7100">
                <a:solidFill>
                  <a:srgbClr val="104772"/>
                </a:solidFill>
                <a:latin typeface="Abril Fatface"/>
                <a:ea typeface="Abril Fatface"/>
                <a:cs typeface="Abril Fatface"/>
                <a:sym typeface="Abril Fatface"/>
              </a:rPr>
              <a:t>Home Page(2):</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Freeform 3"/>
          <p:cNvSpPr/>
          <p:nvPr/>
        </p:nvSpPr>
        <p:spPr>
          <a:xfrm>
            <a:off x="2794825" y="3431076"/>
            <a:ext cx="12698350" cy="5884374"/>
          </a:xfrm>
          <a:custGeom>
            <a:avLst/>
            <a:gdLst/>
            <a:ahLst/>
            <a:cxnLst/>
            <a:rect l="l" t="t" r="r" b="b"/>
            <a:pathLst>
              <a:path w="12698350" h="5884374">
                <a:moveTo>
                  <a:pt x="0" y="0"/>
                </a:moveTo>
                <a:lnTo>
                  <a:pt x="12698350" y="0"/>
                </a:lnTo>
                <a:lnTo>
                  <a:pt x="12698350" y="5884374"/>
                </a:lnTo>
                <a:lnTo>
                  <a:pt x="0" y="5884374"/>
                </a:lnTo>
                <a:lnTo>
                  <a:pt x="0" y="0"/>
                </a:lnTo>
                <a:close/>
              </a:path>
            </a:pathLst>
          </a:custGeom>
          <a:blipFill>
            <a:blip r:embed="rId3"/>
            <a:stretch>
              <a:fillRect/>
            </a:stretch>
          </a:blipFill>
        </p:spPr>
      </p:sp>
      <p:sp>
        <p:nvSpPr>
          <p:cNvPr id="4" name="TextBox 4"/>
          <p:cNvSpPr txBox="1"/>
          <p:nvPr/>
        </p:nvSpPr>
        <p:spPr>
          <a:xfrm>
            <a:off x="1028700" y="1972969"/>
            <a:ext cx="5910075" cy="860044"/>
          </a:xfrm>
          <a:prstGeom prst="rect">
            <a:avLst/>
          </a:prstGeom>
        </p:spPr>
        <p:txBody>
          <a:bodyPr lIns="0" tIns="0" rIns="0" bIns="0" rtlCol="0" anchor="t">
            <a:spAutoFit/>
          </a:bodyPr>
          <a:lstStyle/>
          <a:p>
            <a:pPr algn="l">
              <a:lnSpc>
                <a:spcPts val="6248"/>
              </a:lnSpc>
            </a:pPr>
            <a:r>
              <a:rPr lang="en-US" sz="7100">
                <a:solidFill>
                  <a:srgbClr val="104772"/>
                </a:solidFill>
                <a:latin typeface="Abril Fatface"/>
                <a:ea typeface="Abril Fatface"/>
                <a:cs typeface="Abril Fatface"/>
                <a:sym typeface="Abril Fatface"/>
              </a:rPr>
              <a:t>Booking Page: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Freeform 3"/>
          <p:cNvSpPr/>
          <p:nvPr/>
        </p:nvSpPr>
        <p:spPr>
          <a:xfrm>
            <a:off x="2954749" y="3448294"/>
            <a:ext cx="12698350" cy="5810006"/>
          </a:xfrm>
          <a:custGeom>
            <a:avLst/>
            <a:gdLst/>
            <a:ahLst/>
            <a:cxnLst/>
            <a:rect l="l" t="t" r="r" b="b"/>
            <a:pathLst>
              <a:path w="12698350" h="5810006">
                <a:moveTo>
                  <a:pt x="0" y="0"/>
                </a:moveTo>
                <a:lnTo>
                  <a:pt x="12698350" y="0"/>
                </a:lnTo>
                <a:lnTo>
                  <a:pt x="12698350" y="5810006"/>
                </a:lnTo>
                <a:lnTo>
                  <a:pt x="0" y="5810006"/>
                </a:lnTo>
                <a:lnTo>
                  <a:pt x="0" y="0"/>
                </a:lnTo>
                <a:close/>
              </a:path>
            </a:pathLst>
          </a:custGeom>
          <a:blipFill>
            <a:blip r:embed="rId3"/>
            <a:stretch>
              <a:fillRect/>
            </a:stretch>
          </a:blipFill>
        </p:spPr>
      </p:sp>
      <p:sp>
        <p:nvSpPr>
          <p:cNvPr id="4" name="TextBox 4"/>
          <p:cNvSpPr txBox="1"/>
          <p:nvPr/>
        </p:nvSpPr>
        <p:spPr>
          <a:xfrm>
            <a:off x="1028700" y="1992019"/>
            <a:ext cx="5671488" cy="860044"/>
          </a:xfrm>
          <a:prstGeom prst="rect">
            <a:avLst/>
          </a:prstGeom>
        </p:spPr>
        <p:txBody>
          <a:bodyPr lIns="0" tIns="0" rIns="0" bIns="0" rtlCol="0" anchor="t">
            <a:spAutoFit/>
          </a:bodyPr>
          <a:lstStyle/>
          <a:p>
            <a:pPr algn="l">
              <a:lnSpc>
                <a:spcPts val="6248"/>
              </a:lnSpc>
            </a:pPr>
            <a:r>
              <a:rPr lang="en-US" sz="7100">
                <a:solidFill>
                  <a:srgbClr val="104772"/>
                </a:solidFill>
                <a:latin typeface="Abril Fatface"/>
                <a:ea typeface="Abril Fatface"/>
                <a:cs typeface="Abril Fatface"/>
                <a:sym typeface="Abril Fatface"/>
              </a:rPr>
              <a:t>AI Bot Page: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Freeform 3"/>
          <p:cNvSpPr/>
          <p:nvPr/>
        </p:nvSpPr>
        <p:spPr>
          <a:xfrm>
            <a:off x="2794825" y="3336742"/>
            <a:ext cx="12698350" cy="5921558"/>
          </a:xfrm>
          <a:custGeom>
            <a:avLst/>
            <a:gdLst/>
            <a:ahLst/>
            <a:cxnLst/>
            <a:rect l="l" t="t" r="r" b="b"/>
            <a:pathLst>
              <a:path w="12698350" h="5921558">
                <a:moveTo>
                  <a:pt x="0" y="0"/>
                </a:moveTo>
                <a:lnTo>
                  <a:pt x="12698350" y="0"/>
                </a:lnTo>
                <a:lnTo>
                  <a:pt x="12698350" y="5921558"/>
                </a:lnTo>
                <a:lnTo>
                  <a:pt x="0" y="5921558"/>
                </a:lnTo>
                <a:lnTo>
                  <a:pt x="0" y="0"/>
                </a:lnTo>
                <a:close/>
              </a:path>
            </a:pathLst>
          </a:custGeom>
          <a:blipFill>
            <a:blip r:embed="rId3"/>
            <a:stretch>
              <a:fillRect/>
            </a:stretch>
          </a:blipFill>
        </p:spPr>
      </p:sp>
      <p:sp>
        <p:nvSpPr>
          <p:cNvPr id="4" name="TextBox 4"/>
          <p:cNvSpPr txBox="1"/>
          <p:nvPr/>
        </p:nvSpPr>
        <p:spPr>
          <a:xfrm>
            <a:off x="1028700" y="1992019"/>
            <a:ext cx="7004190" cy="860044"/>
          </a:xfrm>
          <a:prstGeom prst="rect">
            <a:avLst/>
          </a:prstGeom>
        </p:spPr>
        <p:txBody>
          <a:bodyPr lIns="0" tIns="0" rIns="0" bIns="0" rtlCol="0" anchor="t">
            <a:spAutoFit/>
          </a:bodyPr>
          <a:lstStyle/>
          <a:p>
            <a:pPr algn="l">
              <a:lnSpc>
                <a:spcPts val="6248"/>
              </a:lnSpc>
            </a:pPr>
            <a:r>
              <a:rPr lang="en-US" sz="7100">
                <a:solidFill>
                  <a:srgbClr val="104772"/>
                </a:solidFill>
                <a:latin typeface="Abril Fatface"/>
                <a:ea typeface="Abril Fatface"/>
                <a:cs typeface="Abril Fatface"/>
                <a:sym typeface="Abril Fatface"/>
              </a:rPr>
              <a:t>Location Page: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Freeform 3"/>
          <p:cNvSpPr/>
          <p:nvPr/>
        </p:nvSpPr>
        <p:spPr>
          <a:xfrm>
            <a:off x="2794825" y="3373926"/>
            <a:ext cx="12698350" cy="5884374"/>
          </a:xfrm>
          <a:custGeom>
            <a:avLst/>
            <a:gdLst/>
            <a:ahLst/>
            <a:cxnLst/>
            <a:rect l="l" t="t" r="r" b="b"/>
            <a:pathLst>
              <a:path w="12698350" h="5884374">
                <a:moveTo>
                  <a:pt x="0" y="0"/>
                </a:moveTo>
                <a:lnTo>
                  <a:pt x="12698350" y="0"/>
                </a:lnTo>
                <a:lnTo>
                  <a:pt x="12698350" y="5884374"/>
                </a:lnTo>
                <a:lnTo>
                  <a:pt x="0" y="5884374"/>
                </a:lnTo>
                <a:lnTo>
                  <a:pt x="0" y="0"/>
                </a:lnTo>
                <a:close/>
              </a:path>
            </a:pathLst>
          </a:custGeom>
          <a:blipFill>
            <a:blip r:embed="rId3"/>
            <a:stretch>
              <a:fillRect/>
            </a:stretch>
          </a:blipFill>
        </p:spPr>
      </p:sp>
      <p:sp>
        <p:nvSpPr>
          <p:cNvPr id="4" name="TextBox 4"/>
          <p:cNvSpPr txBox="1"/>
          <p:nvPr/>
        </p:nvSpPr>
        <p:spPr>
          <a:xfrm>
            <a:off x="1028700" y="1972969"/>
            <a:ext cx="8115300" cy="860044"/>
          </a:xfrm>
          <a:prstGeom prst="rect">
            <a:avLst/>
          </a:prstGeom>
        </p:spPr>
        <p:txBody>
          <a:bodyPr lIns="0" tIns="0" rIns="0" bIns="0" rtlCol="0" anchor="t">
            <a:spAutoFit/>
          </a:bodyPr>
          <a:lstStyle/>
          <a:p>
            <a:pPr algn="l">
              <a:lnSpc>
                <a:spcPts val="6248"/>
              </a:lnSpc>
            </a:pPr>
            <a:r>
              <a:rPr lang="en-US" sz="7100">
                <a:solidFill>
                  <a:srgbClr val="104772"/>
                </a:solidFill>
                <a:latin typeface="Abril Fatface"/>
                <a:ea typeface="Abril Fatface"/>
                <a:cs typeface="Abril Fatface"/>
                <a:sym typeface="Abril Fatface"/>
              </a:rPr>
              <a:t>Google Sheet: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62013" y="-454227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2"/>
            <a:stretch>
              <a:fillRect/>
            </a:stretch>
          </a:blipFill>
        </p:spPr>
      </p:sp>
      <p:sp>
        <p:nvSpPr>
          <p:cNvPr id="3" name="TextBox 3"/>
          <p:cNvSpPr txBox="1"/>
          <p:nvPr/>
        </p:nvSpPr>
        <p:spPr>
          <a:xfrm>
            <a:off x="4523482" y="4488942"/>
            <a:ext cx="9241036" cy="1747266"/>
          </a:xfrm>
          <a:prstGeom prst="rect">
            <a:avLst/>
          </a:prstGeom>
        </p:spPr>
        <p:txBody>
          <a:bodyPr lIns="0" tIns="0" rIns="0" bIns="0" rtlCol="0" anchor="t">
            <a:spAutoFit/>
          </a:bodyPr>
          <a:lstStyle/>
          <a:p>
            <a:pPr algn="l">
              <a:lnSpc>
                <a:spcPts val="12672"/>
              </a:lnSpc>
            </a:pPr>
            <a:r>
              <a:rPr lang="en-US" sz="14400">
                <a:solidFill>
                  <a:srgbClr val="104772"/>
                </a:solidFill>
                <a:latin typeface="Abril Fatface"/>
                <a:ea typeface="Abril Fatface"/>
                <a:cs typeface="Abril Fatface"/>
                <a:sym typeface="Abril Fatfac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199</Words>
  <Application>Microsoft Office PowerPoint</Application>
  <PresentationFormat>Custom</PresentationFormat>
  <Paragraphs>46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Abril Fatface</vt:lpstr>
      <vt:lpstr>Codec Pro</vt:lpstr>
      <vt:lpstr>Canva Sans Bold</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DOCTOR APPOINTMENT BOOKING AND</dc:title>
  <dc:creator>Lenovo</dc:creator>
  <cp:lastModifiedBy>Lenovo</cp:lastModifiedBy>
  <cp:revision>5</cp:revision>
  <dcterms:created xsi:type="dcterms:W3CDTF">2006-08-16T00:00:00Z</dcterms:created>
  <dcterms:modified xsi:type="dcterms:W3CDTF">2025-03-27T16:26:31Z</dcterms:modified>
  <dc:identifier>DAGi7cN-XoA</dc:identifier>
</cp:coreProperties>
</file>